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7" r:id="rId2"/>
    <p:sldId id="258"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FDF3"/>
    <a:srgbClr val="000066"/>
    <a:srgbClr val="C5E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25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529B623-0481-4C56-AA3E-33FF01A4719E}" type="datetimeFigureOut">
              <a:rPr lang="en-US" smtClean="0"/>
              <a:t>7/20/2026</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C462BB46-222E-47E7-B360-E1688B1C7FF6}" type="slidenum">
              <a:rPr lang="en-US" smtClean="0"/>
              <a:t>‹#›</a:t>
            </a:fld>
            <a:endParaRPr lang="en-US"/>
          </a:p>
        </p:txBody>
      </p:sp>
    </p:spTree>
    <p:extLst>
      <p:ext uri="{BB962C8B-B14F-4D97-AF65-F5344CB8AC3E}">
        <p14:creationId xmlns:p14="http://schemas.microsoft.com/office/powerpoint/2010/main" val="25159847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29B623-0481-4C56-AA3E-33FF01A4719E}"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C462BB46-222E-47E7-B360-E1688B1C7FF6}" type="slidenum">
              <a:rPr lang="en-US" smtClean="0"/>
              <a:t>‹#›</a:t>
            </a:fld>
            <a:endParaRPr lang="en-US"/>
          </a:p>
        </p:txBody>
      </p:sp>
    </p:spTree>
    <p:extLst>
      <p:ext uri="{BB962C8B-B14F-4D97-AF65-F5344CB8AC3E}">
        <p14:creationId xmlns:p14="http://schemas.microsoft.com/office/powerpoint/2010/main" val="246785048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29B623-0481-4C56-AA3E-33FF01A4719E}"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62BB46-222E-47E7-B360-E1688B1C7FF6}" type="slidenum">
              <a:rPr lang="en-US" smtClean="0"/>
              <a:t>‹#›</a:t>
            </a:fld>
            <a:endParaRPr lang="en-US"/>
          </a:p>
        </p:txBody>
      </p:sp>
    </p:spTree>
    <p:extLst>
      <p:ext uri="{BB962C8B-B14F-4D97-AF65-F5344CB8AC3E}">
        <p14:creationId xmlns:p14="http://schemas.microsoft.com/office/powerpoint/2010/main" val="7961223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529B623-0481-4C56-AA3E-33FF01A4719E}"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62BB46-222E-47E7-B360-E1688B1C7FF6}" type="slidenum">
              <a:rPr lang="en-US" smtClean="0"/>
              <a:t>‹#›</a:t>
            </a:fld>
            <a:endParaRPr lang="en-US"/>
          </a:p>
        </p:txBody>
      </p:sp>
    </p:spTree>
    <p:extLst>
      <p:ext uri="{BB962C8B-B14F-4D97-AF65-F5344CB8AC3E}">
        <p14:creationId xmlns:p14="http://schemas.microsoft.com/office/powerpoint/2010/main" val="68519177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529B623-0481-4C56-AA3E-33FF01A4719E}" type="datetimeFigureOut">
              <a:rPr lang="en-US" smtClean="0"/>
              <a:t>7/20/2026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462BB46-222E-47E7-B360-E1688B1C7FF6}" type="slidenum">
              <a:rPr lang="en-US" smtClean="0"/>
              <a:t>‹#›</a:t>
            </a:fld>
            <a:endParaRPr lang="en-US"/>
          </a:p>
        </p:txBody>
      </p:sp>
    </p:spTree>
    <p:extLst>
      <p:ext uri="{BB962C8B-B14F-4D97-AF65-F5344CB8AC3E}">
        <p14:creationId xmlns:p14="http://schemas.microsoft.com/office/powerpoint/2010/main" val="73014569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529B623-0481-4C56-AA3E-33FF01A4719E}" type="datetimeFigureOut">
              <a:rPr lang="en-US" smtClean="0"/>
              <a:t>7/20/2026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462BB46-222E-47E7-B360-E1688B1C7FF6}" type="slidenum">
              <a:rPr lang="en-US" smtClean="0"/>
              <a:t>‹#›</a:t>
            </a:fld>
            <a:endParaRPr lang="en-US"/>
          </a:p>
        </p:txBody>
      </p:sp>
    </p:spTree>
    <p:extLst>
      <p:ext uri="{BB962C8B-B14F-4D97-AF65-F5344CB8AC3E}">
        <p14:creationId xmlns:p14="http://schemas.microsoft.com/office/powerpoint/2010/main" val="23310647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29B623-0481-4C56-AA3E-33FF01A4719E}" type="datetimeFigureOut">
              <a:rPr lang="en-US" smtClean="0"/>
              <a:t>7/20/2026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462BB46-222E-47E7-B360-E1688B1C7FF6}" type="slidenum">
              <a:rPr lang="en-US" smtClean="0"/>
              <a:t>‹#›</a:t>
            </a:fld>
            <a:endParaRPr lang="en-US"/>
          </a:p>
        </p:txBody>
      </p:sp>
    </p:spTree>
    <p:extLst>
      <p:ext uri="{BB962C8B-B14F-4D97-AF65-F5344CB8AC3E}">
        <p14:creationId xmlns:p14="http://schemas.microsoft.com/office/powerpoint/2010/main" val="21321994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29B623-0481-4C56-AA3E-33FF01A4719E}"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62BB46-222E-47E7-B360-E1688B1C7FF6}" type="slidenum">
              <a:rPr lang="en-US" smtClean="0"/>
              <a:t>‹#›</a:t>
            </a:fld>
            <a:endParaRPr lang="en-US"/>
          </a:p>
        </p:txBody>
      </p:sp>
    </p:spTree>
    <p:extLst>
      <p:ext uri="{BB962C8B-B14F-4D97-AF65-F5344CB8AC3E}">
        <p14:creationId xmlns:p14="http://schemas.microsoft.com/office/powerpoint/2010/main" val="4654297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29B623-0481-4C56-AA3E-33FF01A4719E}"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62BB46-222E-47E7-B360-E1688B1C7FF6}" type="slidenum">
              <a:rPr lang="en-US" smtClean="0"/>
              <a:t>‹#›</a:t>
            </a:fld>
            <a:endParaRPr lang="en-US"/>
          </a:p>
        </p:txBody>
      </p:sp>
    </p:spTree>
    <p:extLst>
      <p:ext uri="{BB962C8B-B14F-4D97-AF65-F5344CB8AC3E}">
        <p14:creationId xmlns:p14="http://schemas.microsoft.com/office/powerpoint/2010/main" val="15771002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29B623-0481-4C56-AA3E-33FF01A4719E}"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62BB46-222E-47E7-B360-E1688B1C7FF6}" type="slidenum">
              <a:rPr lang="en-US" smtClean="0"/>
              <a:t>‹#›</a:t>
            </a:fld>
            <a:endParaRPr lang="en-US"/>
          </a:p>
        </p:txBody>
      </p:sp>
    </p:spTree>
    <p:extLst>
      <p:ext uri="{BB962C8B-B14F-4D97-AF65-F5344CB8AC3E}">
        <p14:creationId xmlns:p14="http://schemas.microsoft.com/office/powerpoint/2010/main" val="39887940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29B623-0481-4C56-AA3E-33FF01A4719E}"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62BB46-222E-47E7-B360-E1688B1C7FF6}" type="slidenum">
              <a:rPr lang="en-US" smtClean="0"/>
              <a:t>‹#›</a:t>
            </a:fld>
            <a:endParaRPr lang="en-US"/>
          </a:p>
        </p:txBody>
      </p:sp>
    </p:spTree>
    <p:extLst>
      <p:ext uri="{BB962C8B-B14F-4D97-AF65-F5344CB8AC3E}">
        <p14:creationId xmlns:p14="http://schemas.microsoft.com/office/powerpoint/2010/main" val="35067040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29B623-0481-4C56-AA3E-33FF01A4719E}"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62BB46-222E-47E7-B360-E1688B1C7FF6}" type="slidenum">
              <a:rPr lang="en-US" smtClean="0"/>
              <a:t>‹#›</a:t>
            </a:fld>
            <a:endParaRPr lang="en-US"/>
          </a:p>
        </p:txBody>
      </p:sp>
    </p:spTree>
    <p:extLst>
      <p:ext uri="{BB962C8B-B14F-4D97-AF65-F5344CB8AC3E}">
        <p14:creationId xmlns:p14="http://schemas.microsoft.com/office/powerpoint/2010/main" val="41428898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29B623-0481-4C56-AA3E-33FF01A4719E}"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62BB46-222E-47E7-B360-E1688B1C7FF6}" type="slidenum">
              <a:rPr lang="en-US" smtClean="0"/>
              <a:t>‹#›</a:t>
            </a:fld>
            <a:endParaRPr lang="en-US"/>
          </a:p>
        </p:txBody>
      </p:sp>
    </p:spTree>
    <p:extLst>
      <p:ext uri="{BB962C8B-B14F-4D97-AF65-F5344CB8AC3E}">
        <p14:creationId xmlns:p14="http://schemas.microsoft.com/office/powerpoint/2010/main" val="319352527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29B623-0481-4C56-AA3E-33FF01A4719E}"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62BB46-222E-47E7-B360-E1688B1C7FF6}" type="slidenum">
              <a:rPr lang="en-US" smtClean="0"/>
              <a:t>‹#›</a:t>
            </a:fld>
            <a:endParaRPr lang="en-US"/>
          </a:p>
        </p:txBody>
      </p:sp>
    </p:spTree>
    <p:extLst>
      <p:ext uri="{BB962C8B-B14F-4D97-AF65-F5344CB8AC3E}">
        <p14:creationId xmlns:p14="http://schemas.microsoft.com/office/powerpoint/2010/main" val="39542165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29B623-0481-4C56-AA3E-33FF01A4719E}"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62BB46-222E-47E7-B360-E1688B1C7FF6}" type="slidenum">
              <a:rPr lang="en-US" smtClean="0"/>
              <a:t>‹#›</a:t>
            </a:fld>
            <a:endParaRPr lang="en-US"/>
          </a:p>
        </p:txBody>
      </p:sp>
    </p:spTree>
    <p:extLst>
      <p:ext uri="{BB962C8B-B14F-4D97-AF65-F5344CB8AC3E}">
        <p14:creationId xmlns:p14="http://schemas.microsoft.com/office/powerpoint/2010/main" val="309149502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29B623-0481-4C56-AA3E-33FF01A4719E}"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62BB46-222E-47E7-B360-E1688B1C7FF6}" type="slidenum">
              <a:rPr lang="en-US" smtClean="0"/>
              <a:t>‹#›</a:t>
            </a:fld>
            <a:endParaRPr lang="en-US"/>
          </a:p>
        </p:txBody>
      </p:sp>
    </p:spTree>
    <p:extLst>
      <p:ext uri="{BB962C8B-B14F-4D97-AF65-F5344CB8AC3E}">
        <p14:creationId xmlns:p14="http://schemas.microsoft.com/office/powerpoint/2010/main" val="7114828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29B623-0481-4C56-AA3E-33FF01A4719E}"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62BB46-222E-47E7-B360-E1688B1C7FF6}" type="slidenum">
              <a:rPr lang="en-US" smtClean="0"/>
              <a:t>‹#›</a:t>
            </a:fld>
            <a:endParaRPr lang="en-US"/>
          </a:p>
        </p:txBody>
      </p:sp>
    </p:spTree>
    <p:extLst>
      <p:ext uri="{BB962C8B-B14F-4D97-AF65-F5344CB8AC3E}">
        <p14:creationId xmlns:p14="http://schemas.microsoft.com/office/powerpoint/2010/main" val="323311379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529B623-0481-4C56-AA3E-33FF01A4719E}" type="datetimeFigureOut">
              <a:rPr lang="en-US" smtClean="0"/>
              <a:t>7/20/2026</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462BB46-222E-47E7-B360-E1688B1C7FF6}" type="slidenum">
              <a:rPr lang="en-US" smtClean="0"/>
              <a:t>‹#›</a:t>
            </a:fld>
            <a:endParaRPr lang="en-US"/>
          </a:p>
        </p:txBody>
      </p:sp>
    </p:spTree>
    <p:extLst>
      <p:ext uri="{BB962C8B-B14F-4D97-AF65-F5344CB8AC3E}">
        <p14:creationId xmlns:p14="http://schemas.microsoft.com/office/powerpoint/2010/main" val="88714693"/>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www.europeandissemination.eu/why-automation-and-flexible-jobs-could-lead-to-more-meaningful-work/14133" TargetMode="External"/><Relationship Id="rId7" Type="http://schemas.openxmlformats.org/officeDocument/2006/relationships/hyperlink" Target="https://marketinsights.business/predictive-analytics-for-business-insight-from-data-interpretation-to-strategic-foresight/" TargetMode="External"/><Relationship Id="rId2" Type="http://schemas.openxmlformats.org/officeDocument/2006/relationships/image" Target="../media/image2.jp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hyperlink" Target="https://bok.idpro.org/article/id/42/" TargetMode="Externa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MANJEET-DevOps/Raw-To-Refined-PowerBi_Dashboard/tree/main/Finance%20Performance%20Suite%20-%20Power%20BI"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5F5F43-DD12-161E-A55B-AB380D398D1F}"/>
              </a:ext>
            </a:extLst>
          </p:cNvPr>
          <p:cNvSpPr txBox="1"/>
          <p:nvPr/>
        </p:nvSpPr>
        <p:spPr>
          <a:xfrm>
            <a:off x="2392680" y="2505670"/>
            <a:ext cx="7406640" cy="923330"/>
          </a:xfrm>
          <a:prstGeom prst="rect">
            <a:avLst/>
          </a:prstGeom>
          <a:noFill/>
        </p:spPr>
        <p:txBody>
          <a:bodyPr vert="horz" rtlCol="0" anchor="ctr">
            <a:spAutoFit/>
          </a:bodyPr>
          <a:lstStyle/>
          <a:p>
            <a:r>
              <a:rPr lang="en-US" sz="5400" b="1" dirty="0">
                <a:solidFill>
                  <a:srgbClr val="FFFFFF"/>
                </a:solidFill>
                <a:latin typeface="Arial Rounded MT Bold" panose="020F0704030504030204" pitchFamily="34" charset="0"/>
              </a:rPr>
              <a:t>Raw to Refined</a:t>
            </a:r>
          </a:p>
        </p:txBody>
      </p:sp>
      <p:sp>
        <p:nvSpPr>
          <p:cNvPr id="3" name="TextBox 2">
            <a:extLst>
              <a:ext uri="{FF2B5EF4-FFF2-40B4-BE49-F238E27FC236}">
                <a16:creationId xmlns:a16="http://schemas.microsoft.com/office/drawing/2014/main" id="{21276DB1-7A35-B0B4-4A10-9C35F871D3B0}"/>
              </a:ext>
            </a:extLst>
          </p:cNvPr>
          <p:cNvSpPr txBox="1"/>
          <p:nvPr/>
        </p:nvSpPr>
        <p:spPr>
          <a:xfrm>
            <a:off x="2392680" y="3607163"/>
            <a:ext cx="7406640" cy="461665"/>
          </a:xfrm>
          <a:prstGeom prst="rect">
            <a:avLst/>
          </a:prstGeom>
          <a:noFill/>
        </p:spPr>
        <p:txBody>
          <a:bodyPr vert="horz" wrap="square" rtlCol="0" anchor="ctr">
            <a:spAutoFit/>
          </a:bodyPr>
          <a:lstStyle/>
          <a:p>
            <a:r>
              <a:rPr lang="en-US" sz="2400" dirty="0">
                <a:solidFill>
                  <a:srgbClr val="009688"/>
                </a:solidFill>
                <a:latin typeface="Arial" panose="020B0604020202020204" pitchFamily="34" charset="0"/>
              </a:rPr>
              <a:t>Global Financial </a:t>
            </a:r>
            <a:r>
              <a:rPr lang="en-US" sz="2400" dirty="0">
                <a:solidFill>
                  <a:srgbClr val="009688"/>
                </a:solidFill>
                <a:latin typeface="Arial Rounded MT Bold" panose="020F0704030504030204" pitchFamily="34" charset="0"/>
              </a:rPr>
              <a:t>Performance</a:t>
            </a:r>
            <a:r>
              <a:rPr lang="en-US" sz="2400" dirty="0">
                <a:solidFill>
                  <a:srgbClr val="009688"/>
                </a:solidFill>
                <a:latin typeface="Arial" panose="020B0604020202020204" pitchFamily="34" charset="0"/>
              </a:rPr>
              <a:t> Analytics in Power BI</a:t>
            </a:r>
          </a:p>
        </p:txBody>
      </p:sp>
      <p:sp>
        <p:nvSpPr>
          <p:cNvPr id="4" name="TextBox 3">
            <a:extLst>
              <a:ext uri="{FF2B5EF4-FFF2-40B4-BE49-F238E27FC236}">
                <a16:creationId xmlns:a16="http://schemas.microsoft.com/office/drawing/2014/main" id="{7F28DCEC-7FBD-F9C7-F74E-7F101CD5EEBC}"/>
              </a:ext>
            </a:extLst>
          </p:cNvPr>
          <p:cNvSpPr txBox="1"/>
          <p:nvPr/>
        </p:nvSpPr>
        <p:spPr>
          <a:xfrm>
            <a:off x="635000" y="7620000"/>
            <a:ext cx="10160000" cy="307777"/>
          </a:xfrm>
          <a:prstGeom prst="rect">
            <a:avLst/>
          </a:prstGeom>
          <a:noFill/>
        </p:spPr>
        <p:txBody>
          <a:bodyPr vert="horz" rtlCol="0">
            <a:spAutoFit/>
          </a:bodyPr>
          <a:lstStyle/>
          <a:p>
            <a:r>
              <a:rPr lang="en-US" sz="1400">
                <a:solidFill>
                  <a:srgbClr val="B4BED2"/>
                </a:solidFill>
                <a:latin typeface="Courier New" panose="02070309020205020404" pitchFamily="49" charset="0"/>
              </a:rPr>
              <a:t>Repository: github.com/MANJEET-DevOps/Raw-to-Refined-PowerBi-Dashboard</a:t>
            </a:r>
          </a:p>
        </p:txBody>
      </p:sp>
    </p:spTree>
    <p:extLst>
      <p:ext uri="{BB962C8B-B14F-4D97-AF65-F5344CB8AC3E}">
        <p14:creationId xmlns:p14="http://schemas.microsoft.com/office/powerpoint/2010/main" val="366347845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1" nodeType="clickEffect">
                                  <p:stCondLst>
                                    <p:cond delay="1000"/>
                                  </p:stCondLst>
                                  <p:childTnLst>
                                    <p:set>
                                      <p:cBhvr>
                                        <p:cTn id="11" dur="1" fill="hold">
                                          <p:stCondLst>
                                            <p:cond delay="0"/>
                                          </p:stCondLst>
                                        </p:cTn>
                                        <p:tgtEl>
                                          <p:spTgt spid="2"/>
                                        </p:tgtEl>
                                        <p:attrNameLst>
                                          <p:attrName>style.visibility</p:attrName>
                                        </p:attrNameLst>
                                      </p:cBhvr>
                                      <p:to>
                                        <p:strVal val="visible"/>
                                      </p:to>
                                    </p:set>
                                    <p:animEffect transition="in" filter="circle(in)">
                                      <p:cBhvr>
                                        <p:cTn id="12" dur="2000"/>
                                        <p:tgtEl>
                                          <p:spTgt spid="2"/>
                                        </p:tgtEl>
                                      </p:cBhvr>
                                    </p:animEffect>
                                  </p:childTnLst>
                                </p:cTn>
                              </p:par>
                              <p:par>
                                <p:cTn id="13" presetID="6" presetClass="entr" presetSubtype="16" fill="hold" grpId="0" nodeType="withEffect">
                                  <p:stCondLst>
                                    <p:cond delay="1000"/>
                                  </p:stCondLst>
                                  <p:childTnLst>
                                    <p:set>
                                      <p:cBhvr>
                                        <p:cTn id="14" dur="1" fill="hold">
                                          <p:stCondLst>
                                            <p:cond delay="0"/>
                                          </p:stCondLst>
                                        </p:cTn>
                                        <p:tgtEl>
                                          <p:spTgt spid="3"/>
                                        </p:tgtEl>
                                        <p:attrNameLst>
                                          <p:attrName>style.visibility</p:attrName>
                                        </p:attrNameLst>
                                      </p:cBhvr>
                                      <p:to>
                                        <p:strVal val="visible"/>
                                      </p:to>
                                    </p:set>
                                    <p:animEffect transition="in" filter="circle(in)">
                                      <p:cBhvr>
                                        <p:cTn id="15"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795408-F879-FE60-83FF-CB3244B943B4}"/>
              </a:ext>
            </a:extLst>
          </p:cNvPr>
          <p:cNvSpPr txBox="1"/>
          <p:nvPr/>
        </p:nvSpPr>
        <p:spPr>
          <a:xfrm>
            <a:off x="1720168" y="550204"/>
            <a:ext cx="10160000" cy="707886"/>
          </a:xfrm>
          <a:prstGeom prst="rect">
            <a:avLst/>
          </a:prstGeom>
          <a:effectLst>
            <a:innerShdw blurRad="63500" dist="50800" dir="8100000">
              <a:prstClr val="black">
                <a:alpha val="50000"/>
              </a:prstClr>
            </a:innerShdw>
          </a:effectLst>
        </p:spPr>
        <p:style>
          <a:lnRef idx="1">
            <a:schemeClr val="dk1"/>
          </a:lnRef>
          <a:fillRef idx="2">
            <a:schemeClr val="dk1"/>
          </a:fillRef>
          <a:effectRef idx="1">
            <a:schemeClr val="dk1"/>
          </a:effectRef>
          <a:fontRef idx="minor">
            <a:schemeClr val="dk1"/>
          </a:fontRef>
        </p:style>
        <p:txBody>
          <a:bodyPr vert="horz" rtlCol="0">
            <a:spAutoFit/>
          </a:bodyPr>
          <a:lstStyle/>
          <a:p>
            <a:pPr algn="ctr"/>
            <a:r>
              <a:rPr lang="en-US" sz="4000" b="1" dirty="0">
                <a:solidFill>
                  <a:schemeClr val="tx1">
                    <a:lumMod val="95000"/>
                  </a:schemeClr>
                </a:solidFill>
                <a:latin typeface="Arial Rounded MT Bold" panose="020F0704030504030204" pitchFamily="34" charset="0"/>
              </a:rPr>
              <a:t>Problem Statement &amp; Strategic Goals</a:t>
            </a:r>
          </a:p>
        </p:txBody>
      </p:sp>
      <p:sp>
        <p:nvSpPr>
          <p:cNvPr id="3" name="TextBox 2">
            <a:extLst>
              <a:ext uri="{FF2B5EF4-FFF2-40B4-BE49-F238E27FC236}">
                <a16:creationId xmlns:a16="http://schemas.microsoft.com/office/drawing/2014/main" id="{9EC09BC3-68B2-6396-5A31-C0893410F8E8}"/>
              </a:ext>
            </a:extLst>
          </p:cNvPr>
          <p:cNvSpPr txBox="1"/>
          <p:nvPr/>
        </p:nvSpPr>
        <p:spPr>
          <a:xfrm>
            <a:off x="1364175" y="2244852"/>
            <a:ext cx="5080000" cy="2368296"/>
          </a:xfrm>
          <a:prstGeom prst="rect">
            <a:avLst/>
          </a:prstGeom>
          <a:noFill/>
        </p:spPr>
        <p:txBody>
          <a:bodyPr vert="horz" wrap="square" rtlCol="0">
            <a:spAutoFit/>
          </a:bodyPr>
          <a:lstStyle/>
          <a:p>
            <a:pPr algn="ctr"/>
            <a:r>
              <a:rPr lang="en-US" sz="2200" b="1" dirty="0">
                <a:solidFill>
                  <a:schemeClr val="accent1">
                    <a:lumMod val="60000"/>
                    <a:lumOff val="40000"/>
                  </a:schemeClr>
                </a:solidFill>
              </a:rPr>
              <a:t>The Corporate Bottleneck</a:t>
            </a:r>
          </a:p>
          <a:p>
            <a:endParaRPr lang="en-US" dirty="0">
              <a:solidFill>
                <a:srgbClr val="212121"/>
              </a:solidFill>
            </a:endParaRPr>
          </a:p>
          <a:p>
            <a:pPr lvl="1"/>
            <a:r>
              <a:rPr lang="en-US" dirty="0">
                <a:solidFill>
                  <a:schemeClr val="bg2">
                    <a:lumMod val="10000"/>
                    <a:lumOff val="90000"/>
                  </a:schemeClr>
                </a:solidFill>
              </a:rPr>
              <a:t>• Raw, flat operational spreadsheets contain immense value but lack context.</a:t>
            </a:r>
          </a:p>
          <a:p>
            <a:pPr lvl="1"/>
            <a:r>
              <a:rPr lang="en-US" dirty="0">
                <a:solidFill>
                  <a:schemeClr val="bg2">
                    <a:lumMod val="10000"/>
                    <a:lumOff val="90000"/>
                  </a:schemeClr>
                </a:solidFill>
              </a:rPr>
              <a:t>• Dense transactional tables limit active executive auditing or rapid scaling.</a:t>
            </a:r>
          </a:p>
        </p:txBody>
      </p:sp>
      <p:sp>
        <p:nvSpPr>
          <p:cNvPr id="4" name="TextBox 3">
            <a:extLst>
              <a:ext uri="{FF2B5EF4-FFF2-40B4-BE49-F238E27FC236}">
                <a16:creationId xmlns:a16="http://schemas.microsoft.com/office/drawing/2014/main" id="{74720245-8A42-7673-050C-6E43F5FFDEAB}"/>
              </a:ext>
            </a:extLst>
          </p:cNvPr>
          <p:cNvSpPr txBox="1"/>
          <p:nvPr/>
        </p:nvSpPr>
        <p:spPr>
          <a:xfrm>
            <a:off x="6743896" y="2244060"/>
            <a:ext cx="5080000" cy="2369880"/>
          </a:xfrm>
          <a:prstGeom prst="rect">
            <a:avLst/>
          </a:prstGeom>
          <a:noFill/>
        </p:spPr>
        <p:txBody>
          <a:bodyPr vert="horz" wrap="square" rtlCol="0">
            <a:spAutoFit/>
          </a:bodyPr>
          <a:lstStyle/>
          <a:p>
            <a:pPr algn="ctr"/>
            <a:r>
              <a:rPr lang="en-US" sz="2200" b="1" dirty="0">
                <a:solidFill>
                  <a:schemeClr val="accent6">
                    <a:lumMod val="60000"/>
                    <a:lumOff val="40000"/>
                  </a:schemeClr>
                </a:solidFill>
              </a:rPr>
              <a:t>Core Business Objectives</a:t>
            </a:r>
          </a:p>
          <a:p>
            <a:endParaRPr lang="en-US" dirty="0">
              <a:solidFill>
                <a:srgbClr val="212121"/>
              </a:solidFill>
            </a:endParaRPr>
          </a:p>
          <a:p>
            <a:pPr lvl="1"/>
            <a:r>
              <a:rPr lang="en-US" dirty="0">
                <a:solidFill>
                  <a:schemeClr val="bg2">
                    <a:lumMod val="10000"/>
                    <a:lumOff val="90000"/>
                  </a:schemeClr>
                </a:solidFill>
              </a:rPr>
              <a:t>• Transition flat transactional files into a responsive, highly secure architecture.</a:t>
            </a:r>
          </a:p>
          <a:p>
            <a:pPr lvl="1"/>
            <a:r>
              <a:rPr lang="en-US" dirty="0">
                <a:solidFill>
                  <a:schemeClr val="bg2">
                    <a:lumMod val="10000"/>
                    <a:lumOff val="90000"/>
                  </a:schemeClr>
                </a:solidFill>
              </a:rPr>
              <a:t>• Implement automated Year-over-Year (YoY) performance tracking frameworks.</a:t>
            </a:r>
          </a:p>
          <a:p>
            <a:pPr lvl="1"/>
            <a:r>
              <a:rPr lang="en-US" dirty="0">
                <a:solidFill>
                  <a:schemeClr val="bg2">
                    <a:lumMod val="10000"/>
                    <a:lumOff val="90000"/>
                  </a:schemeClr>
                </a:solidFill>
              </a:rPr>
              <a:t>• Establish systematic protection guardrails against margin leakage.</a:t>
            </a:r>
          </a:p>
        </p:txBody>
      </p:sp>
    </p:spTree>
    <p:extLst>
      <p:ext uri="{BB962C8B-B14F-4D97-AF65-F5344CB8AC3E}">
        <p14:creationId xmlns:p14="http://schemas.microsoft.com/office/powerpoint/2010/main" val="19385864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heel(1)">
                                      <p:cBhvr>
                                        <p:cTn id="7" dur="2000"/>
                                        <p:tgtEl>
                                          <p:spTgt spid="2">
                                            <p:bg/>
                                          </p:spTgt>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heel(1)">
                                      <p:cBhvr>
                                        <p:cTn id="10" dur="2000"/>
                                        <p:tgtEl>
                                          <p:spTgt spid="2">
                                            <p:txEl>
                                              <p:pRg st="0" end="0"/>
                                            </p:txEl>
                                          </p:spTgt>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wheel(1)">
                                      <p:cBhvr>
                                        <p:cTn id="13" dur="2000"/>
                                        <p:tgtEl>
                                          <p:spTgt spid="3">
                                            <p:txEl>
                                              <p:pRg st="0" end="0"/>
                                            </p:txEl>
                                          </p:spTgt>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heel(1)">
                                      <p:cBhvr>
                                        <p:cTn id="16" dur="2000"/>
                                        <p:tgtEl>
                                          <p:spTgt spid="3">
                                            <p:txEl>
                                              <p:pRg st="2" end="2"/>
                                            </p:txEl>
                                          </p:spTgt>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heel(1)">
                                      <p:cBhvr>
                                        <p:cTn id="19" dur="2000"/>
                                        <p:tgtEl>
                                          <p:spTgt spid="3">
                                            <p:txEl>
                                              <p:pRg st="3" end="3"/>
                                            </p:txEl>
                                          </p:spTgt>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wheel(1)">
                                      <p:cBhvr>
                                        <p:cTn id="22" dur="2000"/>
                                        <p:tgtEl>
                                          <p:spTgt spid="4">
                                            <p:txEl>
                                              <p:pRg st="0" end="0"/>
                                            </p:txEl>
                                          </p:spTgt>
                                        </p:tgtEl>
                                      </p:cBhvr>
                                    </p:animEffect>
                                  </p:childTnLst>
                                </p:cTn>
                              </p:par>
                              <p:par>
                                <p:cTn id="23" presetID="21" presetClass="entr" presetSubtype="1" fill="hold" grpId="0" nodeType="with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Effect transition="in" filter="wheel(1)">
                                      <p:cBhvr>
                                        <p:cTn id="25" dur="2000"/>
                                        <p:tgtEl>
                                          <p:spTgt spid="4">
                                            <p:txEl>
                                              <p:pRg st="2" end="2"/>
                                            </p:txEl>
                                          </p:spTgt>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wheel(1)">
                                      <p:cBhvr>
                                        <p:cTn id="28" dur="2000"/>
                                        <p:tgtEl>
                                          <p:spTgt spid="4">
                                            <p:txEl>
                                              <p:pRg st="3" end="3"/>
                                            </p:txEl>
                                          </p:spTgt>
                                        </p:tgtEl>
                                      </p:cBhvr>
                                    </p:animEffect>
                                  </p:childTnLst>
                                </p:cTn>
                              </p:par>
                              <p:par>
                                <p:cTn id="29" presetID="21" presetClass="entr" presetSubtype="1" fill="hold" grpId="0" nodeType="with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Effect transition="in" filter="wheel(1)">
                                      <p:cBhvr>
                                        <p:cTn id="31"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animBg="1"/>
      <p:bldP spid="3" grpId="0" build="allAtOnce"/>
      <p:bldP spid="4" grpId="0"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0AADD7-1792-7E7B-9F80-258846F57672}"/>
              </a:ext>
            </a:extLst>
          </p:cNvPr>
          <p:cNvSpPr txBox="1"/>
          <p:nvPr/>
        </p:nvSpPr>
        <p:spPr>
          <a:xfrm>
            <a:off x="1728761" y="503312"/>
            <a:ext cx="10160000" cy="707886"/>
          </a:xfrm>
          <a:prstGeom prst="rect">
            <a:avLst/>
          </a:prstGeom>
          <a:effectLst>
            <a:innerShdw blurRad="63500" dist="50800" dir="8100000">
              <a:prstClr val="black">
                <a:alpha val="50000"/>
              </a:prstClr>
            </a:innerShdw>
          </a:effectLst>
        </p:spPr>
        <p:style>
          <a:lnRef idx="1">
            <a:schemeClr val="dk1"/>
          </a:lnRef>
          <a:fillRef idx="2">
            <a:schemeClr val="dk1"/>
          </a:fillRef>
          <a:effectRef idx="1">
            <a:schemeClr val="dk1"/>
          </a:effectRef>
          <a:fontRef idx="minor">
            <a:schemeClr val="dk1"/>
          </a:fontRef>
        </p:style>
        <p:txBody>
          <a:bodyPr vert="horz" rtlCol="0">
            <a:spAutoFit/>
          </a:bodyPr>
          <a:lstStyle/>
          <a:p>
            <a:pPr algn="ctr"/>
            <a:r>
              <a:rPr lang="en-US" sz="3600" b="1" dirty="0">
                <a:solidFill>
                  <a:schemeClr val="tx1">
                    <a:lumMod val="95000"/>
                  </a:schemeClr>
                </a:solidFill>
                <a:latin typeface="Arial Rounded MT Bold" panose="020F0704030504030204" pitchFamily="34" charset="0"/>
              </a:rPr>
              <a:t>Data </a:t>
            </a:r>
            <a:r>
              <a:rPr lang="en-US" sz="4000" b="1" dirty="0">
                <a:solidFill>
                  <a:schemeClr val="tx1">
                    <a:lumMod val="95000"/>
                  </a:schemeClr>
                </a:solidFill>
                <a:latin typeface="Arial Rounded MT Bold" panose="020F0704030504030204" pitchFamily="34" charset="0"/>
              </a:rPr>
              <a:t>Modeling</a:t>
            </a:r>
            <a:r>
              <a:rPr lang="en-US" sz="3600" b="1" dirty="0">
                <a:solidFill>
                  <a:schemeClr val="tx1">
                    <a:lumMod val="95000"/>
                  </a:schemeClr>
                </a:solidFill>
                <a:latin typeface="Arial Rounded MT Bold" panose="020F0704030504030204" pitchFamily="34" charset="0"/>
              </a:rPr>
              <a:t> &amp; Architecture Optimization</a:t>
            </a:r>
          </a:p>
        </p:txBody>
      </p:sp>
      <p:sp>
        <p:nvSpPr>
          <p:cNvPr id="3" name="TextBox 2">
            <a:extLst>
              <a:ext uri="{FF2B5EF4-FFF2-40B4-BE49-F238E27FC236}">
                <a16:creationId xmlns:a16="http://schemas.microsoft.com/office/drawing/2014/main" id="{7B64C47E-2FCC-2195-0673-80E0C745EF34}"/>
              </a:ext>
            </a:extLst>
          </p:cNvPr>
          <p:cNvSpPr txBox="1"/>
          <p:nvPr/>
        </p:nvSpPr>
        <p:spPr>
          <a:xfrm>
            <a:off x="1380582" y="2286000"/>
            <a:ext cx="3302000" cy="2103120"/>
          </a:xfrm>
          <a:prstGeom prst="rect">
            <a:avLst/>
          </a:prstGeom>
          <a:solidFill>
            <a:srgbClr val="000066"/>
          </a:solidFill>
          <a:ln>
            <a:noFill/>
          </a:ln>
          <a:effectLst>
            <a:outerShdw blurRad="44450" dist="27940" dir="5400000" algn="ctr">
              <a:srgbClr val="000000">
                <a:alpha val="32000"/>
              </a:srgbClr>
            </a:outerShdw>
            <a:reflection blurRad="6350" stA="50000" endA="275" endPos="40000" dist="101600" dir="5400000" sy="-100000" algn="bl" rotWithShape="0"/>
          </a:effectLst>
          <a:scene3d>
            <a:camera prst="orthographicFront">
              <a:rot lat="0" lon="0" rev="0"/>
            </a:camera>
            <a:lightRig rig="balanced" dir="t">
              <a:rot lat="0" lon="0" rev="8700000"/>
            </a:lightRig>
          </a:scene3d>
          <a:sp3d>
            <a:bevelT w="190500" h="38100"/>
          </a:sp3d>
        </p:spPr>
        <p:txBody>
          <a:bodyPr vert="horz" wrap="square" rtlCol="0">
            <a:spAutoFit/>
          </a:bodyPr>
          <a:lstStyle/>
          <a:p>
            <a:pPr algn="ctr"/>
            <a:r>
              <a:rPr lang="en-US" sz="2400" b="1" dirty="0">
                <a:solidFill>
                  <a:srgbClr val="CBFDF3"/>
                </a:solidFill>
                <a:latin typeface="Arial Rounded MT Bold" panose="020F0704030504030204" pitchFamily="34" charset="0"/>
              </a:rPr>
              <a:t>Star-Schema Design</a:t>
            </a:r>
          </a:p>
          <a:p>
            <a:endParaRPr lang="en-US" sz="1600" dirty="0">
              <a:solidFill>
                <a:srgbClr val="212121"/>
              </a:solidFill>
            </a:endParaRPr>
          </a:p>
          <a:p>
            <a:pPr algn="ctr"/>
            <a:r>
              <a:rPr lang="en-US" sz="1600" dirty="0">
                <a:solidFill>
                  <a:schemeClr val="tx1">
                    <a:lumMod val="85000"/>
                  </a:schemeClr>
                </a:solidFill>
                <a:latin typeface="Arial" panose="020B0604020202020204" pitchFamily="34" charset="0"/>
                <a:cs typeface="Arial" panose="020B0604020202020204" pitchFamily="34" charset="0"/>
              </a:rPr>
              <a:t>Migrated away from resource-heavy single flat tables toward structured dimension-and-fact separation to increase scaling capability</a:t>
            </a:r>
            <a:r>
              <a:rPr lang="en-US" sz="1600" dirty="0">
                <a:solidFill>
                  <a:schemeClr val="tx1">
                    <a:lumMod val="95000"/>
                  </a:schemeClr>
                </a:solidFill>
              </a:rPr>
              <a:t>.</a:t>
            </a:r>
          </a:p>
        </p:txBody>
      </p:sp>
      <p:sp>
        <p:nvSpPr>
          <p:cNvPr id="4" name="TextBox 3">
            <a:extLst>
              <a:ext uri="{FF2B5EF4-FFF2-40B4-BE49-F238E27FC236}">
                <a16:creationId xmlns:a16="http://schemas.microsoft.com/office/drawing/2014/main" id="{F3AD1FFE-3A19-E943-8D85-511BBA2826F8}"/>
              </a:ext>
            </a:extLst>
          </p:cNvPr>
          <p:cNvSpPr txBox="1"/>
          <p:nvPr/>
        </p:nvSpPr>
        <p:spPr>
          <a:xfrm>
            <a:off x="5022164" y="2271932"/>
            <a:ext cx="3404382" cy="2103120"/>
          </a:xfrm>
          <a:prstGeom prst="rect">
            <a:avLst/>
          </a:prstGeom>
          <a:solidFill>
            <a:srgbClr val="000066"/>
          </a:solidFill>
          <a:ln>
            <a:noFill/>
          </a:ln>
          <a:effectLst>
            <a:outerShdw blurRad="44450" dist="27940" dir="5400000" algn="ctr">
              <a:srgbClr val="000000">
                <a:alpha val="32000"/>
              </a:srgbClr>
            </a:outerShdw>
            <a:reflection blurRad="6350" stA="50000" endA="275" endPos="40000" dist="101600" dir="5400000" sy="-100000" algn="bl" rotWithShape="0"/>
          </a:effectLst>
          <a:scene3d>
            <a:camera prst="orthographicFront">
              <a:rot lat="0" lon="0" rev="0"/>
            </a:camera>
            <a:lightRig rig="balanced" dir="t">
              <a:rot lat="0" lon="0" rev="8700000"/>
            </a:lightRig>
          </a:scene3d>
          <a:sp3d>
            <a:bevelT w="190500" h="38100"/>
          </a:sp3d>
        </p:spPr>
        <p:txBody>
          <a:bodyPr vert="horz" wrap="square" rtlCol="0">
            <a:spAutoFit/>
          </a:bodyPr>
          <a:lstStyle/>
          <a:p>
            <a:pPr algn="ctr"/>
            <a:r>
              <a:rPr lang="en-US" sz="2400" b="1" dirty="0">
                <a:solidFill>
                  <a:srgbClr val="CBFDF3"/>
                </a:solidFill>
                <a:latin typeface="Arial Rounded MT Bold" panose="020F0704030504030204" pitchFamily="34" charset="0"/>
              </a:rPr>
              <a:t>Decoupled Measures</a:t>
            </a:r>
          </a:p>
          <a:p>
            <a:endParaRPr lang="en-US" sz="1600" dirty="0">
              <a:solidFill>
                <a:srgbClr val="212121"/>
              </a:solidFill>
            </a:endParaRPr>
          </a:p>
          <a:p>
            <a:pPr algn="ctr"/>
            <a:r>
              <a:rPr lang="en-US" sz="1600" dirty="0">
                <a:solidFill>
                  <a:schemeClr val="tx1">
                    <a:lumMod val="85000"/>
                  </a:schemeClr>
                </a:solidFill>
                <a:latin typeface="Arial" panose="020B0604020202020204" pitchFamily="34" charset="0"/>
                <a:cs typeface="Arial" panose="020B0604020202020204" pitchFamily="34" charset="0"/>
              </a:rPr>
              <a:t>Built an independent physical table dedicated entirely to DAX measures, cleanly isolating operational logic from raw data columns.</a:t>
            </a:r>
          </a:p>
        </p:txBody>
      </p:sp>
      <p:sp>
        <p:nvSpPr>
          <p:cNvPr id="5" name="TextBox 4">
            <a:extLst>
              <a:ext uri="{FF2B5EF4-FFF2-40B4-BE49-F238E27FC236}">
                <a16:creationId xmlns:a16="http://schemas.microsoft.com/office/drawing/2014/main" id="{9B9FAA73-9AAF-39F3-9923-7441A59081E3}"/>
              </a:ext>
            </a:extLst>
          </p:cNvPr>
          <p:cNvSpPr txBox="1"/>
          <p:nvPr/>
        </p:nvSpPr>
        <p:spPr>
          <a:xfrm>
            <a:off x="8646941" y="2286000"/>
            <a:ext cx="3404382" cy="2000548"/>
          </a:xfrm>
          <a:prstGeom prst="rect">
            <a:avLst/>
          </a:prstGeom>
          <a:solidFill>
            <a:srgbClr val="000066"/>
          </a:solidFill>
          <a:ln>
            <a:noFill/>
          </a:ln>
          <a:effectLst>
            <a:outerShdw blurRad="44450" dist="27940" dir="5400000" algn="ctr">
              <a:srgbClr val="000000">
                <a:alpha val="32000"/>
              </a:srgbClr>
            </a:outerShdw>
            <a:reflection blurRad="6350" stA="50000" endA="275" endPos="40000" dist="101600" dir="5400000" sy="-100000" algn="bl" rotWithShape="0"/>
          </a:effectLst>
          <a:scene3d>
            <a:camera prst="orthographicFront">
              <a:rot lat="0" lon="0" rev="0"/>
            </a:camera>
            <a:lightRig rig="balanced" dir="t">
              <a:rot lat="0" lon="0" rev="8700000"/>
            </a:lightRig>
          </a:scene3d>
          <a:sp3d>
            <a:bevelT w="190500" h="38100"/>
          </a:sp3d>
        </p:spPr>
        <p:txBody>
          <a:bodyPr vert="horz" wrap="square" rtlCol="0">
            <a:spAutoFit/>
          </a:bodyPr>
          <a:lstStyle/>
          <a:p>
            <a:r>
              <a:rPr lang="en-US" sz="2800" b="1" dirty="0">
                <a:solidFill>
                  <a:srgbClr val="CBFDF3"/>
                </a:solidFill>
                <a:latin typeface="Arial Rounded MT Bold" panose="020F0704030504030204" pitchFamily="34" charset="0"/>
              </a:rPr>
              <a:t> Custom </a:t>
            </a:r>
            <a:r>
              <a:rPr lang="en-US" sz="2400" b="1" dirty="0">
                <a:solidFill>
                  <a:srgbClr val="CBFDF3"/>
                </a:solidFill>
                <a:latin typeface="Arial Rounded MT Bold" panose="020F0704030504030204" pitchFamily="34" charset="0"/>
              </a:rPr>
              <a:t>Date </a:t>
            </a:r>
            <a:r>
              <a:rPr lang="en-US" sz="2800" b="1" dirty="0">
                <a:solidFill>
                  <a:srgbClr val="CBFDF3"/>
                </a:solidFill>
                <a:latin typeface="Arial Rounded MT Bold" panose="020F0704030504030204" pitchFamily="34" charset="0"/>
              </a:rPr>
              <a:t>Table</a:t>
            </a:r>
          </a:p>
          <a:p>
            <a:endParaRPr lang="en-US" sz="1600" dirty="0">
              <a:solidFill>
                <a:srgbClr val="212121"/>
              </a:solidFill>
            </a:endParaRPr>
          </a:p>
          <a:p>
            <a:pPr algn="ctr"/>
            <a:r>
              <a:rPr lang="en-US" sz="1600" dirty="0">
                <a:solidFill>
                  <a:schemeClr val="tx1">
                    <a:lumMod val="85000"/>
                  </a:schemeClr>
                </a:solidFill>
                <a:latin typeface="Arial" panose="020B0604020202020204" pitchFamily="34" charset="0"/>
                <a:cs typeface="Arial" panose="020B0604020202020204" pitchFamily="34" charset="0"/>
              </a:rPr>
              <a:t>Programmed a dedicated calendar dimension table to bypass Power BI's heavy auto-date features, optimizing workspace rendering speed.</a:t>
            </a:r>
          </a:p>
        </p:txBody>
      </p:sp>
    </p:spTree>
    <p:extLst>
      <p:ext uri="{BB962C8B-B14F-4D97-AF65-F5344CB8AC3E}">
        <p14:creationId xmlns:p14="http://schemas.microsoft.com/office/powerpoint/2010/main" val="37537438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750"/>
                            </p:stCondLst>
                            <p:childTnLst>
                              <p:par>
                                <p:cTn id="9" presetID="10" presetClass="entr" presetSubtype="0" fill="hold" grpId="0" nodeType="afterEffect">
                                  <p:stCondLst>
                                    <p:cond delay="2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500"/>
                            </p:stCondLst>
                            <p:childTnLst>
                              <p:par>
                                <p:cTn id="13" presetID="10" presetClass="entr" presetSubtype="0" fill="hold" grpId="0" nodeType="afterEffect">
                                  <p:stCondLst>
                                    <p:cond delay="2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2250"/>
                            </p:stCondLst>
                            <p:childTnLst>
                              <p:par>
                                <p:cTn id="17" presetID="10" presetClass="entr" presetSubtype="0" fill="hold" grpId="0" nodeType="afterEffect">
                                  <p:stCondLst>
                                    <p:cond delay="25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160976-4B89-DB4F-12D3-03C5DA84D54D}"/>
              </a:ext>
            </a:extLst>
          </p:cNvPr>
          <p:cNvSpPr txBox="1"/>
          <p:nvPr/>
        </p:nvSpPr>
        <p:spPr>
          <a:xfrm>
            <a:off x="1659987" y="413278"/>
            <a:ext cx="9645749" cy="707886"/>
          </a:xfrm>
          <a:prstGeom prst="rect">
            <a:avLst/>
          </a:prstGeom>
          <a:effectLst>
            <a:innerShdw blurRad="63500" dist="50800" dir="8100000">
              <a:prstClr val="black">
                <a:alpha val="50000"/>
              </a:prstClr>
            </a:innerShdw>
          </a:effectLst>
        </p:spPr>
        <p:style>
          <a:lnRef idx="1">
            <a:schemeClr val="dk1"/>
          </a:lnRef>
          <a:fillRef idx="2">
            <a:schemeClr val="dk1"/>
          </a:fillRef>
          <a:effectRef idx="1">
            <a:schemeClr val="dk1"/>
          </a:effectRef>
          <a:fontRef idx="minor">
            <a:schemeClr val="dk1"/>
          </a:fontRef>
        </p:style>
        <p:txBody>
          <a:bodyPr vert="horz" wrap="square" rtlCol="0" anchor="ctr">
            <a:spAutoFit/>
          </a:bodyPr>
          <a:lstStyle/>
          <a:p>
            <a:pPr algn="ctr"/>
            <a:r>
              <a:rPr lang="en-US" sz="4000" b="1" dirty="0">
                <a:solidFill>
                  <a:schemeClr val="tx1"/>
                </a:solidFill>
                <a:latin typeface="Arial Rounded MT Bold" panose="020F0704030504030204" pitchFamily="34" charset="0"/>
              </a:rPr>
              <a:t>Executive</a:t>
            </a:r>
            <a:r>
              <a:rPr lang="en-US" sz="3600" b="1" dirty="0">
                <a:solidFill>
                  <a:schemeClr val="tx1"/>
                </a:solidFill>
                <a:latin typeface="Arial" panose="020B0604020202020204" pitchFamily="34" charset="0"/>
              </a:rPr>
              <a:t> KPIs: Macro Business Health</a:t>
            </a:r>
          </a:p>
        </p:txBody>
      </p:sp>
      <p:sp>
        <p:nvSpPr>
          <p:cNvPr id="3" name="TextBox 2">
            <a:extLst>
              <a:ext uri="{FF2B5EF4-FFF2-40B4-BE49-F238E27FC236}">
                <a16:creationId xmlns:a16="http://schemas.microsoft.com/office/drawing/2014/main" id="{2A3FF14E-AFB5-946C-5589-CE99027E6217}"/>
              </a:ext>
            </a:extLst>
          </p:cNvPr>
          <p:cNvSpPr txBox="1"/>
          <p:nvPr/>
        </p:nvSpPr>
        <p:spPr>
          <a:xfrm>
            <a:off x="1290318" y="2399479"/>
            <a:ext cx="3302000" cy="769441"/>
          </a:xfrm>
          <a:prstGeom prst="rect">
            <a:avLst/>
          </a:prstGeom>
          <a:noFill/>
        </p:spPr>
        <p:txBody>
          <a:bodyPr vert="horz" rtlCol="0">
            <a:spAutoFit/>
          </a:bodyPr>
          <a:lstStyle/>
          <a:p>
            <a:r>
              <a:rPr lang="en-US" sz="4400" b="1" dirty="0">
                <a:solidFill>
                  <a:schemeClr val="accent1">
                    <a:lumMod val="60000"/>
                    <a:lumOff val="40000"/>
                  </a:schemeClr>
                </a:solidFill>
              </a:rPr>
              <a:t>$</a:t>
            </a:r>
            <a:r>
              <a:rPr lang="en-US" sz="4400" b="1" dirty="0">
                <a:solidFill>
                  <a:schemeClr val="accent1">
                    <a:lumMod val="60000"/>
                    <a:lumOff val="40000"/>
                  </a:schemeClr>
                </a:solidFill>
                <a:effectLst>
                  <a:reflection blurRad="6350" stA="55000" endA="300" endPos="45500" dir="5400000" sy="-100000" algn="bl" rotWithShape="0"/>
                </a:effectLst>
              </a:rPr>
              <a:t>110.78M</a:t>
            </a:r>
          </a:p>
        </p:txBody>
      </p:sp>
      <p:sp>
        <p:nvSpPr>
          <p:cNvPr id="4" name="TextBox 3">
            <a:extLst>
              <a:ext uri="{FF2B5EF4-FFF2-40B4-BE49-F238E27FC236}">
                <a16:creationId xmlns:a16="http://schemas.microsoft.com/office/drawing/2014/main" id="{5EC1E1A9-7078-16DD-EF27-4179ABF0752D}"/>
              </a:ext>
            </a:extLst>
          </p:cNvPr>
          <p:cNvSpPr txBox="1"/>
          <p:nvPr/>
        </p:nvSpPr>
        <p:spPr>
          <a:xfrm>
            <a:off x="1290318" y="3689080"/>
            <a:ext cx="3302000" cy="523220"/>
          </a:xfrm>
          <a:prstGeom prst="rect">
            <a:avLst/>
          </a:prstGeom>
          <a:noFill/>
        </p:spPr>
        <p:txBody>
          <a:bodyPr vert="horz" rtlCol="0">
            <a:spAutoFit/>
          </a:bodyPr>
          <a:lstStyle/>
          <a:p>
            <a:r>
              <a:rPr lang="en-US" sz="1400" dirty="0">
                <a:solidFill>
                  <a:schemeClr val="tx1">
                    <a:lumMod val="85000"/>
                  </a:schemeClr>
                </a:solidFill>
              </a:rPr>
              <a:t>Top-Line Revenue</a:t>
            </a:r>
          </a:p>
          <a:p>
            <a:r>
              <a:rPr lang="en-US" sz="1400" dirty="0">
                <a:solidFill>
                  <a:schemeClr val="tx1">
                    <a:lumMod val="85000"/>
                  </a:schemeClr>
                </a:solidFill>
              </a:rPr>
              <a:t>(vs. LY Baseline of $24.90M)</a:t>
            </a:r>
          </a:p>
        </p:txBody>
      </p:sp>
      <p:sp>
        <p:nvSpPr>
          <p:cNvPr id="5" name="TextBox 4">
            <a:extLst>
              <a:ext uri="{FF2B5EF4-FFF2-40B4-BE49-F238E27FC236}">
                <a16:creationId xmlns:a16="http://schemas.microsoft.com/office/drawing/2014/main" id="{BBC8C6D9-641A-2869-CDE2-58C127B10B1B}"/>
              </a:ext>
            </a:extLst>
          </p:cNvPr>
          <p:cNvSpPr txBox="1"/>
          <p:nvPr/>
        </p:nvSpPr>
        <p:spPr>
          <a:xfrm>
            <a:off x="4817209" y="2399479"/>
            <a:ext cx="3302000" cy="769441"/>
          </a:xfrm>
          <a:prstGeom prst="rect">
            <a:avLst/>
          </a:prstGeom>
          <a:noFill/>
        </p:spPr>
        <p:txBody>
          <a:bodyPr vert="horz" rtlCol="0">
            <a:spAutoFit/>
          </a:bodyPr>
          <a:lstStyle/>
          <a:p>
            <a:r>
              <a:rPr lang="en-US" sz="4400" b="1" dirty="0">
                <a:solidFill>
                  <a:schemeClr val="accent4">
                    <a:lumMod val="60000"/>
                    <a:lumOff val="40000"/>
                  </a:schemeClr>
                </a:solidFill>
                <a:effectLst>
                  <a:reflection blurRad="6350" stA="60000" endA="900" endPos="58000" dir="5400000" sy="-100000" algn="bl" rotWithShape="0"/>
                </a:effectLst>
              </a:rPr>
              <a:t>13.68</a:t>
            </a:r>
            <a:r>
              <a:rPr lang="en-US" sz="4400" b="1" dirty="0">
                <a:solidFill>
                  <a:schemeClr val="accent4">
                    <a:lumMod val="60000"/>
                    <a:lumOff val="40000"/>
                  </a:schemeClr>
                </a:solidFill>
              </a:rPr>
              <a:t>%</a:t>
            </a:r>
          </a:p>
        </p:txBody>
      </p:sp>
      <p:sp>
        <p:nvSpPr>
          <p:cNvPr id="6" name="TextBox 5">
            <a:extLst>
              <a:ext uri="{FF2B5EF4-FFF2-40B4-BE49-F238E27FC236}">
                <a16:creationId xmlns:a16="http://schemas.microsoft.com/office/drawing/2014/main" id="{C77570AF-A47B-E119-B0C1-8E0F7AB69F21}"/>
              </a:ext>
            </a:extLst>
          </p:cNvPr>
          <p:cNvSpPr txBox="1"/>
          <p:nvPr/>
        </p:nvSpPr>
        <p:spPr>
          <a:xfrm>
            <a:off x="4817209" y="3689080"/>
            <a:ext cx="3302000" cy="523220"/>
          </a:xfrm>
          <a:prstGeom prst="rect">
            <a:avLst/>
          </a:prstGeom>
          <a:noFill/>
        </p:spPr>
        <p:txBody>
          <a:bodyPr vert="horz" rtlCol="0">
            <a:spAutoFit/>
          </a:bodyPr>
          <a:lstStyle/>
          <a:p>
            <a:r>
              <a:rPr lang="en-US" sz="1400" dirty="0">
                <a:solidFill>
                  <a:schemeClr val="tx1">
                    <a:lumMod val="85000"/>
                  </a:schemeClr>
                </a:solidFill>
              </a:rPr>
              <a:t>Net Profit Margin</a:t>
            </a:r>
          </a:p>
          <a:p>
            <a:r>
              <a:rPr lang="en-US" sz="1400" dirty="0">
                <a:solidFill>
                  <a:schemeClr val="tx1">
                    <a:lumMod val="85000"/>
                  </a:schemeClr>
                </a:solidFill>
              </a:rPr>
              <a:t>(Slight compression vs. 14.14% LY)</a:t>
            </a:r>
          </a:p>
        </p:txBody>
      </p:sp>
      <p:sp>
        <p:nvSpPr>
          <p:cNvPr id="7" name="TextBox 6">
            <a:extLst>
              <a:ext uri="{FF2B5EF4-FFF2-40B4-BE49-F238E27FC236}">
                <a16:creationId xmlns:a16="http://schemas.microsoft.com/office/drawing/2014/main" id="{0DEBEEDF-E62A-FF58-4D66-D77EDAC7D38E}"/>
              </a:ext>
            </a:extLst>
          </p:cNvPr>
          <p:cNvSpPr txBox="1"/>
          <p:nvPr/>
        </p:nvSpPr>
        <p:spPr>
          <a:xfrm>
            <a:off x="8826697" y="2399479"/>
            <a:ext cx="3302000" cy="769441"/>
          </a:xfrm>
          <a:prstGeom prst="rect">
            <a:avLst/>
          </a:prstGeom>
          <a:noFill/>
        </p:spPr>
        <p:txBody>
          <a:bodyPr vert="horz" rtlCol="0">
            <a:spAutoFit/>
          </a:bodyPr>
          <a:lstStyle/>
          <a:p>
            <a:r>
              <a:rPr lang="en-US" sz="4400" b="1" dirty="0">
                <a:solidFill>
                  <a:schemeClr val="accent6">
                    <a:lumMod val="60000"/>
                    <a:lumOff val="40000"/>
                  </a:schemeClr>
                </a:solidFill>
                <a:effectLst>
                  <a:reflection blurRad="6350" stA="60000" endA="900" endPos="58000" dir="5400000" sy="-100000" algn="bl" rotWithShape="0"/>
                </a:effectLst>
              </a:rPr>
              <a:t>57.76%</a:t>
            </a:r>
          </a:p>
        </p:txBody>
      </p:sp>
      <p:sp>
        <p:nvSpPr>
          <p:cNvPr id="8" name="TextBox 7">
            <a:extLst>
              <a:ext uri="{FF2B5EF4-FFF2-40B4-BE49-F238E27FC236}">
                <a16:creationId xmlns:a16="http://schemas.microsoft.com/office/drawing/2014/main" id="{580E35DA-DC53-6A3B-80B8-DB9B25B7DD8B}"/>
              </a:ext>
            </a:extLst>
          </p:cNvPr>
          <p:cNvSpPr txBox="1"/>
          <p:nvPr/>
        </p:nvSpPr>
        <p:spPr>
          <a:xfrm>
            <a:off x="8826697" y="3689080"/>
            <a:ext cx="3302000" cy="523220"/>
          </a:xfrm>
          <a:prstGeom prst="rect">
            <a:avLst/>
          </a:prstGeom>
          <a:noFill/>
        </p:spPr>
        <p:txBody>
          <a:bodyPr vert="horz" rtlCol="0">
            <a:spAutoFit/>
          </a:bodyPr>
          <a:lstStyle/>
          <a:p>
            <a:r>
              <a:rPr lang="en-US" sz="1400" dirty="0">
                <a:solidFill>
                  <a:schemeClr val="tx1">
                    <a:lumMod val="85000"/>
                  </a:schemeClr>
                </a:solidFill>
              </a:rPr>
              <a:t>High Discount Share</a:t>
            </a:r>
          </a:p>
          <a:p>
            <a:r>
              <a:rPr lang="en-US" sz="1400" dirty="0">
                <a:solidFill>
                  <a:schemeClr val="tx1">
                    <a:lumMod val="85000"/>
                  </a:schemeClr>
                </a:solidFill>
              </a:rPr>
              <a:t>Primary cause of margin dilution</a:t>
            </a:r>
          </a:p>
        </p:txBody>
      </p:sp>
      <p:sp>
        <p:nvSpPr>
          <p:cNvPr id="9" name="Rectangle 8">
            <a:extLst>
              <a:ext uri="{FF2B5EF4-FFF2-40B4-BE49-F238E27FC236}">
                <a16:creationId xmlns:a16="http://schemas.microsoft.com/office/drawing/2014/main" id="{A0065A73-A324-407C-5609-85C0A8B3BB3B}"/>
              </a:ext>
            </a:extLst>
          </p:cNvPr>
          <p:cNvSpPr/>
          <p:nvPr/>
        </p:nvSpPr>
        <p:spPr>
          <a:xfrm>
            <a:off x="18757" y="5577840"/>
            <a:ext cx="12192000" cy="1280160"/>
          </a:xfrm>
          <a:prstGeom prst="rect">
            <a:avLst/>
          </a:prstGeom>
          <a:solidFill>
            <a:schemeClr val="tx2">
              <a:lumMod val="25000"/>
            </a:schemeClr>
          </a:solidFill>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91440" bIns="0" rtlCol="0" anchor="ctr" anchorCtr="1"/>
          <a:lstStyle/>
          <a:p>
            <a:pPr algn="ctr"/>
            <a:r>
              <a:rPr lang="en-US" sz="2000" b="1" dirty="0">
                <a:solidFill>
                  <a:srgbClr val="0070C0"/>
                </a:solidFill>
              </a:rPr>
              <a:t>Core Strategic Insight:</a:t>
            </a:r>
          </a:p>
          <a:p>
            <a:pPr algn="ctr"/>
            <a:r>
              <a:rPr lang="en-US" sz="2000" b="1" dirty="0">
                <a:solidFill>
                  <a:srgbClr val="FFFFFF"/>
                </a:solidFill>
              </a:rPr>
              <a:t>While global transaction density expanded exponentially to 1M orders, aggregate profit margins dropped by 46 basis points. The enterprise data flags heavy reliance on High Discount structures as the dominant factor driving bottom-line erosion.</a:t>
            </a:r>
          </a:p>
        </p:txBody>
      </p:sp>
    </p:spTree>
    <p:extLst>
      <p:ext uri="{BB962C8B-B14F-4D97-AF65-F5344CB8AC3E}">
        <p14:creationId xmlns:p14="http://schemas.microsoft.com/office/powerpoint/2010/main" val="37029446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 calcmode="lin" valueType="num">
                                      <p:cBhvr>
                                        <p:cTn id="9" dur="2000" fill="hold"/>
                                        <p:tgtEl>
                                          <p:spTgt spid="2"/>
                                        </p:tgtEl>
                                        <p:attrNameLst>
                                          <p:attrName>style.rotation</p:attrName>
                                        </p:attrNameLst>
                                      </p:cBhvr>
                                      <p:tavLst>
                                        <p:tav tm="0">
                                          <p:val>
                                            <p:fltVal val="90"/>
                                          </p:val>
                                        </p:tav>
                                        <p:tav tm="100000">
                                          <p:val>
                                            <p:fltVal val="0"/>
                                          </p:val>
                                        </p:tav>
                                      </p:tavLst>
                                    </p:anim>
                                    <p:animEffect transition="in" filter="fade">
                                      <p:cBhvr>
                                        <p:cTn id="10" dur="2000"/>
                                        <p:tgtEl>
                                          <p:spTgt spid="2"/>
                                        </p:tgtEl>
                                      </p:cBhvr>
                                    </p:animEffect>
                                  </p:childTnLst>
                                </p:cTn>
                              </p:par>
                              <p:par>
                                <p:cTn id="11" presetID="31" presetClass="entr" presetSubtype="0" fill="hold" grpId="0" nodeType="withEffect">
                                  <p:stCondLst>
                                    <p:cond delay="250"/>
                                  </p:stCondLst>
                                  <p:childTnLst>
                                    <p:set>
                                      <p:cBhvr>
                                        <p:cTn id="12" dur="1" fill="hold">
                                          <p:stCondLst>
                                            <p:cond delay="0"/>
                                          </p:stCondLst>
                                        </p:cTn>
                                        <p:tgtEl>
                                          <p:spTgt spid="3"/>
                                        </p:tgtEl>
                                        <p:attrNameLst>
                                          <p:attrName>style.visibility</p:attrName>
                                        </p:attrNameLst>
                                      </p:cBhvr>
                                      <p:to>
                                        <p:strVal val="visible"/>
                                      </p:to>
                                    </p:set>
                                    <p:anim calcmode="lin" valueType="num">
                                      <p:cBhvr>
                                        <p:cTn id="13" dur="2000" fill="hold"/>
                                        <p:tgtEl>
                                          <p:spTgt spid="3"/>
                                        </p:tgtEl>
                                        <p:attrNameLst>
                                          <p:attrName>ppt_w</p:attrName>
                                        </p:attrNameLst>
                                      </p:cBhvr>
                                      <p:tavLst>
                                        <p:tav tm="0">
                                          <p:val>
                                            <p:fltVal val="0"/>
                                          </p:val>
                                        </p:tav>
                                        <p:tav tm="100000">
                                          <p:val>
                                            <p:strVal val="#ppt_w"/>
                                          </p:val>
                                        </p:tav>
                                      </p:tavLst>
                                    </p:anim>
                                    <p:anim calcmode="lin" valueType="num">
                                      <p:cBhvr>
                                        <p:cTn id="14" dur="2000" fill="hold"/>
                                        <p:tgtEl>
                                          <p:spTgt spid="3"/>
                                        </p:tgtEl>
                                        <p:attrNameLst>
                                          <p:attrName>ppt_h</p:attrName>
                                        </p:attrNameLst>
                                      </p:cBhvr>
                                      <p:tavLst>
                                        <p:tav tm="0">
                                          <p:val>
                                            <p:fltVal val="0"/>
                                          </p:val>
                                        </p:tav>
                                        <p:tav tm="100000">
                                          <p:val>
                                            <p:strVal val="#ppt_h"/>
                                          </p:val>
                                        </p:tav>
                                      </p:tavLst>
                                    </p:anim>
                                    <p:anim calcmode="lin" valueType="num">
                                      <p:cBhvr>
                                        <p:cTn id="15" dur="2000" fill="hold"/>
                                        <p:tgtEl>
                                          <p:spTgt spid="3"/>
                                        </p:tgtEl>
                                        <p:attrNameLst>
                                          <p:attrName>style.rotation</p:attrName>
                                        </p:attrNameLst>
                                      </p:cBhvr>
                                      <p:tavLst>
                                        <p:tav tm="0">
                                          <p:val>
                                            <p:fltVal val="90"/>
                                          </p:val>
                                        </p:tav>
                                        <p:tav tm="100000">
                                          <p:val>
                                            <p:fltVal val="0"/>
                                          </p:val>
                                        </p:tav>
                                      </p:tavLst>
                                    </p:anim>
                                    <p:animEffect transition="in" filter="fade">
                                      <p:cBhvr>
                                        <p:cTn id="16" dur="2000"/>
                                        <p:tgtEl>
                                          <p:spTgt spid="3"/>
                                        </p:tgtEl>
                                      </p:cBhvr>
                                    </p:animEffect>
                                  </p:childTnLst>
                                </p:cTn>
                              </p:par>
                              <p:par>
                                <p:cTn id="17" presetID="31" presetClass="entr" presetSubtype="0" fill="hold" grpId="0" nodeType="withEffect">
                                  <p:stCondLst>
                                    <p:cond delay="250"/>
                                  </p:stCondLst>
                                  <p:childTnLst>
                                    <p:set>
                                      <p:cBhvr>
                                        <p:cTn id="18" dur="1" fill="hold">
                                          <p:stCondLst>
                                            <p:cond delay="0"/>
                                          </p:stCondLst>
                                        </p:cTn>
                                        <p:tgtEl>
                                          <p:spTgt spid="4"/>
                                        </p:tgtEl>
                                        <p:attrNameLst>
                                          <p:attrName>style.visibility</p:attrName>
                                        </p:attrNameLst>
                                      </p:cBhvr>
                                      <p:to>
                                        <p:strVal val="visible"/>
                                      </p:to>
                                    </p:set>
                                    <p:anim calcmode="lin" valueType="num">
                                      <p:cBhvr>
                                        <p:cTn id="19" dur="2000" fill="hold"/>
                                        <p:tgtEl>
                                          <p:spTgt spid="4"/>
                                        </p:tgtEl>
                                        <p:attrNameLst>
                                          <p:attrName>ppt_w</p:attrName>
                                        </p:attrNameLst>
                                      </p:cBhvr>
                                      <p:tavLst>
                                        <p:tav tm="0">
                                          <p:val>
                                            <p:fltVal val="0"/>
                                          </p:val>
                                        </p:tav>
                                        <p:tav tm="100000">
                                          <p:val>
                                            <p:strVal val="#ppt_w"/>
                                          </p:val>
                                        </p:tav>
                                      </p:tavLst>
                                    </p:anim>
                                    <p:anim calcmode="lin" valueType="num">
                                      <p:cBhvr>
                                        <p:cTn id="20" dur="2000" fill="hold"/>
                                        <p:tgtEl>
                                          <p:spTgt spid="4"/>
                                        </p:tgtEl>
                                        <p:attrNameLst>
                                          <p:attrName>ppt_h</p:attrName>
                                        </p:attrNameLst>
                                      </p:cBhvr>
                                      <p:tavLst>
                                        <p:tav tm="0">
                                          <p:val>
                                            <p:fltVal val="0"/>
                                          </p:val>
                                        </p:tav>
                                        <p:tav tm="100000">
                                          <p:val>
                                            <p:strVal val="#ppt_h"/>
                                          </p:val>
                                        </p:tav>
                                      </p:tavLst>
                                    </p:anim>
                                    <p:anim calcmode="lin" valueType="num">
                                      <p:cBhvr>
                                        <p:cTn id="21" dur="2000" fill="hold"/>
                                        <p:tgtEl>
                                          <p:spTgt spid="4"/>
                                        </p:tgtEl>
                                        <p:attrNameLst>
                                          <p:attrName>style.rotation</p:attrName>
                                        </p:attrNameLst>
                                      </p:cBhvr>
                                      <p:tavLst>
                                        <p:tav tm="0">
                                          <p:val>
                                            <p:fltVal val="90"/>
                                          </p:val>
                                        </p:tav>
                                        <p:tav tm="100000">
                                          <p:val>
                                            <p:fltVal val="0"/>
                                          </p:val>
                                        </p:tav>
                                      </p:tavLst>
                                    </p:anim>
                                    <p:animEffect transition="in" filter="fade">
                                      <p:cBhvr>
                                        <p:cTn id="22" dur="2000"/>
                                        <p:tgtEl>
                                          <p:spTgt spid="4"/>
                                        </p:tgtEl>
                                      </p:cBhvr>
                                    </p:animEffect>
                                  </p:childTnLst>
                                </p:cTn>
                              </p:par>
                              <p:par>
                                <p:cTn id="23" presetID="31" presetClass="entr" presetSubtype="0" fill="hold" grpId="0" nodeType="withEffect">
                                  <p:stCondLst>
                                    <p:cond delay="250"/>
                                  </p:stCondLst>
                                  <p:childTnLst>
                                    <p:set>
                                      <p:cBhvr>
                                        <p:cTn id="24" dur="1" fill="hold">
                                          <p:stCondLst>
                                            <p:cond delay="0"/>
                                          </p:stCondLst>
                                        </p:cTn>
                                        <p:tgtEl>
                                          <p:spTgt spid="5"/>
                                        </p:tgtEl>
                                        <p:attrNameLst>
                                          <p:attrName>style.visibility</p:attrName>
                                        </p:attrNameLst>
                                      </p:cBhvr>
                                      <p:to>
                                        <p:strVal val="visible"/>
                                      </p:to>
                                    </p:set>
                                    <p:anim calcmode="lin" valueType="num">
                                      <p:cBhvr>
                                        <p:cTn id="25" dur="2000" fill="hold"/>
                                        <p:tgtEl>
                                          <p:spTgt spid="5"/>
                                        </p:tgtEl>
                                        <p:attrNameLst>
                                          <p:attrName>ppt_w</p:attrName>
                                        </p:attrNameLst>
                                      </p:cBhvr>
                                      <p:tavLst>
                                        <p:tav tm="0">
                                          <p:val>
                                            <p:fltVal val="0"/>
                                          </p:val>
                                        </p:tav>
                                        <p:tav tm="100000">
                                          <p:val>
                                            <p:strVal val="#ppt_w"/>
                                          </p:val>
                                        </p:tav>
                                      </p:tavLst>
                                    </p:anim>
                                    <p:anim calcmode="lin" valueType="num">
                                      <p:cBhvr>
                                        <p:cTn id="26" dur="2000" fill="hold"/>
                                        <p:tgtEl>
                                          <p:spTgt spid="5"/>
                                        </p:tgtEl>
                                        <p:attrNameLst>
                                          <p:attrName>ppt_h</p:attrName>
                                        </p:attrNameLst>
                                      </p:cBhvr>
                                      <p:tavLst>
                                        <p:tav tm="0">
                                          <p:val>
                                            <p:fltVal val="0"/>
                                          </p:val>
                                        </p:tav>
                                        <p:tav tm="100000">
                                          <p:val>
                                            <p:strVal val="#ppt_h"/>
                                          </p:val>
                                        </p:tav>
                                      </p:tavLst>
                                    </p:anim>
                                    <p:anim calcmode="lin" valueType="num">
                                      <p:cBhvr>
                                        <p:cTn id="27" dur="2000" fill="hold"/>
                                        <p:tgtEl>
                                          <p:spTgt spid="5"/>
                                        </p:tgtEl>
                                        <p:attrNameLst>
                                          <p:attrName>style.rotation</p:attrName>
                                        </p:attrNameLst>
                                      </p:cBhvr>
                                      <p:tavLst>
                                        <p:tav tm="0">
                                          <p:val>
                                            <p:fltVal val="90"/>
                                          </p:val>
                                        </p:tav>
                                        <p:tav tm="100000">
                                          <p:val>
                                            <p:fltVal val="0"/>
                                          </p:val>
                                        </p:tav>
                                      </p:tavLst>
                                    </p:anim>
                                    <p:animEffect transition="in" filter="fade">
                                      <p:cBhvr>
                                        <p:cTn id="28" dur="2000"/>
                                        <p:tgtEl>
                                          <p:spTgt spid="5"/>
                                        </p:tgtEl>
                                      </p:cBhvr>
                                    </p:animEffect>
                                  </p:childTnLst>
                                </p:cTn>
                              </p:par>
                              <p:par>
                                <p:cTn id="29" presetID="31" presetClass="entr" presetSubtype="0" fill="hold" grpId="0" nodeType="withEffect">
                                  <p:stCondLst>
                                    <p:cond delay="250"/>
                                  </p:stCondLst>
                                  <p:childTnLst>
                                    <p:set>
                                      <p:cBhvr>
                                        <p:cTn id="30" dur="1" fill="hold">
                                          <p:stCondLst>
                                            <p:cond delay="0"/>
                                          </p:stCondLst>
                                        </p:cTn>
                                        <p:tgtEl>
                                          <p:spTgt spid="6"/>
                                        </p:tgtEl>
                                        <p:attrNameLst>
                                          <p:attrName>style.visibility</p:attrName>
                                        </p:attrNameLst>
                                      </p:cBhvr>
                                      <p:to>
                                        <p:strVal val="visible"/>
                                      </p:to>
                                    </p:set>
                                    <p:anim calcmode="lin" valueType="num">
                                      <p:cBhvr>
                                        <p:cTn id="31" dur="2000" fill="hold"/>
                                        <p:tgtEl>
                                          <p:spTgt spid="6"/>
                                        </p:tgtEl>
                                        <p:attrNameLst>
                                          <p:attrName>ppt_w</p:attrName>
                                        </p:attrNameLst>
                                      </p:cBhvr>
                                      <p:tavLst>
                                        <p:tav tm="0">
                                          <p:val>
                                            <p:fltVal val="0"/>
                                          </p:val>
                                        </p:tav>
                                        <p:tav tm="100000">
                                          <p:val>
                                            <p:strVal val="#ppt_w"/>
                                          </p:val>
                                        </p:tav>
                                      </p:tavLst>
                                    </p:anim>
                                    <p:anim calcmode="lin" valueType="num">
                                      <p:cBhvr>
                                        <p:cTn id="32" dur="2000" fill="hold"/>
                                        <p:tgtEl>
                                          <p:spTgt spid="6"/>
                                        </p:tgtEl>
                                        <p:attrNameLst>
                                          <p:attrName>ppt_h</p:attrName>
                                        </p:attrNameLst>
                                      </p:cBhvr>
                                      <p:tavLst>
                                        <p:tav tm="0">
                                          <p:val>
                                            <p:fltVal val="0"/>
                                          </p:val>
                                        </p:tav>
                                        <p:tav tm="100000">
                                          <p:val>
                                            <p:strVal val="#ppt_h"/>
                                          </p:val>
                                        </p:tav>
                                      </p:tavLst>
                                    </p:anim>
                                    <p:anim calcmode="lin" valueType="num">
                                      <p:cBhvr>
                                        <p:cTn id="33" dur="2000" fill="hold"/>
                                        <p:tgtEl>
                                          <p:spTgt spid="6"/>
                                        </p:tgtEl>
                                        <p:attrNameLst>
                                          <p:attrName>style.rotation</p:attrName>
                                        </p:attrNameLst>
                                      </p:cBhvr>
                                      <p:tavLst>
                                        <p:tav tm="0">
                                          <p:val>
                                            <p:fltVal val="90"/>
                                          </p:val>
                                        </p:tav>
                                        <p:tav tm="100000">
                                          <p:val>
                                            <p:fltVal val="0"/>
                                          </p:val>
                                        </p:tav>
                                      </p:tavLst>
                                    </p:anim>
                                    <p:animEffect transition="in" filter="fade">
                                      <p:cBhvr>
                                        <p:cTn id="34" dur="2000"/>
                                        <p:tgtEl>
                                          <p:spTgt spid="6"/>
                                        </p:tgtEl>
                                      </p:cBhvr>
                                    </p:animEffect>
                                  </p:childTnLst>
                                </p:cTn>
                              </p:par>
                              <p:par>
                                <p:cTn id="35" presetID="31" presetClass="entr" presetSubtype="0" fill="hold" grpId="0" nodeType="withEffect">
                                  <p:stCondLst>
                                    <p:cond delay="250"/>
                                  </p:stCondLst>
                                  <p:childTnLst>
                                    <p:set>
                                      <p:cBhvr>
                                        <p:cTn id="36" dur="1" fill="hold">
                                          <p:stCondLst>
                                            <p:cond delay="0"/>
                                          </p:stCondLst>
                                        </p:cTn>
                                        <p:tgtEl>
                                          <p:spTgt spid="7"/>
                                        </p:tgtEl>
                                        <p:attrNameLst>
                                          <p:attrName>style.visibility</p:attrName>
                                        </p:attrNameLst>
                                      </p:cBhvr>
                                      <p:to>
                                        <p:strVal val="visible"/>
                                      </p:to>
                                    </p:set>
                                    <p:anim calcmode="lin" valueType="num">
                                      <p:cBhvr>
                                        <p:cTn id="37" dur="2000" fill="hold"/>
                                        <p:tgtEl>
                                          <p:spTgt spid="7"/>
                                        </p:tgtEl>
                                        <p:attrNameLst>
                                          <p:attrName>ppt_w</p:attrName>
                                        </p:attrNameLst>
                                      </p:cBhvr>
                                      <p:tavLst>
                                        <p:tav tm="0">
                                          <p:val>
                                            <p:fltVal val="0"/>
                                          </p:val>
                                        </p:tav>
                                        <p:tav tm="100000">
                                          <p:val>
                                            <p:strVal val="#ppt_w"/>
                                          </p:val>
                                        </p:tav>
                                      </p:tavLst>
                                    </p:anim>
                                    <p:anim calcmode="lin" valueType="num">
                                      <p:cBhvr>
                                        <p:cTn id="38" dur="2000" fill="hold"/>
                                        <p:tgtEl>
                                          <p:spTgt spid="7"/>
                                        </p:tgtEl>
                                        <p:attrNameLst>
                                          <p:attrName>ppt_h</p:attrName>
                                        </p:attrNameLst>
                                      </p:cBhvr>
                                      <p:tavLst>
                                        <p:tav tm="0">
                                          <p:val>
                                            <p:fltVal val="0"/>
                                          </p:val>
                                        </p:tav>
                                        <p:tav tm="100000">
                                          <p:val>
                                            <p:strVal val="#ppt_h"/>
                                          </p:val>
                                        </p:tav>
                                      </p:tavLst>
                                    </p:anim>
                                    <p:anim calcmode="lin" valueType="num">
                                      <p:cBhvr>
                                        <p:cTn id="39" dur="2000" fill="hold"/>
                                        <p:tgtEl>
                                          <p:spTgt spid="7"/>
                                        </p:tgtEl>
                                        <p:attrNameLst>
                                          <p:attrName>style.rotation</p:attrName>
                                        </p:attrNameLst>
                                      </p:cBhvr>
                                      <p:tavLst>
                                        <p:tav tm="0">
                                          <p:val>
                                            <p:fltVal val="90"/>
                                          </p:val>
                                        </p:tav>
                                        <p:tav tm="100000">
                                          <p:val>
                                            <p:fltVal val="0"/>
                                          </p:val>
                                        </p:tav>
                                      </p:tavLst>
                                    </p:anim>
                                    <p:animEffect transition="in" filter="fade">
                                      <p:cBhvr>
                                        <p:cTn id="40" dur="2000"/>
                                        <p:tgtEl>
                                          <p:spTgt spid="7"/>
                                        </p:tgtEl>
                                      </p:cBhvr>
                                    </p:animEffect>
                                  </p:childTnLst>
                                </p:cTn>
                              </p:par>
                              <p:par>
                                <p:cTn id="41" presetID="31" presetClass="entr" presetSubtype="0" fill="hold" grpId="0" nodeType="withEffect">
                                  <p:stCondLst>
                                    <p:cond delay="250"/>
                                  </p:stCondLst>
                                  <p:childTnLst>
                                    <p:set>
                                      <p:cBhvr>
                                        <p:cTn id="42" dur="1" fill="hold">
                                          <p:stCondLst>
                                            <p:cond delay="0"/>
                                          </p:stCondLst>
                                        </p:cTn>
                                        <p:tgtEl>
                                          <p:spTgt spid="8"/>
                                        </p:tgtEl>
                                        <p:attrNameLst>
                                          <p:attrName>style.visibility</p:attrName>
                                        </p:attrNameLst>
                                      </p:cBhvr>
                                      <p:to>
                                        <p:strVal val="visible"/>
                                      </p:to>
                                    </p:set>
                                    <p:anim calcmode="lin" valueType="num">
                                      <p:cBhvr>
                                        <p:cTn id="43" dur="2000" fill="hold"/>
                                        <p:tgtEl>
                                          <p:spTgt spid="8"/>
                                        </p:tgtEl>
                                        <p:attrNameLst>
                                          <p:attrName>ppt_w</p:attrName>
                                        </p:attrNameLst>
                                      </p:cBhvr>
                                      <p:tavLst>
                                        <p:tav tm="0">
                                          <p:val>
                                            <p:fltVal val="0"/>
                                          </p:val>
                                        </p:tav>
                                        <p:tav tm="100000">
                                          <p:val>
                                            <p:strVal val="#ppt_w"/>
                                          </p:val>
                                        </p:tav>
                                      </p:tavLst>
                                    </p:anim>
                                    <p:anim calcmode="lin" valueType="num">
                                      <p:cBhvr>
                                        <p:cTn id="44" dur="2000" fill="hold"/>
                                        <p:tgtEl>
                                          <p:spTgt spid="8"/>
                                        </p:tgtEl>
                                        <p:attrNameLst>
                                          <p:attrName>ppt_h</p:attrName>
                                        </p:attrNameLst>
                                      </p:cBhvr>
                                      <p:tavLst>
                                        <p:tav tm="0">
                                          <p:val>
                                            <p:fltVal val="0"/>
                                          </p:val>
                                        </p:tav>
                                        <p:tav tm="100000">
                                          <p:val>
                                            <p:strVal val="#ppt_h"/>
                                          </p:val>
                                        </p:tav>
                                      </p:tavLst>
                                    </p:anim>
                                    <p:anim calcmode="lin" valueType="num">
                                      <p:cBhvr>
                                        <p:cTn id="45" dur="2000" fill="hold"/>
                                        <p:tgtEl>
                                          <p:spTgt spid="8"/>
                                        </p:tgtEl>
                                        <p:attrNameLst>
                                          <p:attrName>style.rotation</p:attrName>
                                        </p:attrNameLst>
                                      </p:cBhvr>
                                      <p:tavLst>
                                        <p:tav tm="0">
                                          <p:val>
                                            <p:fltVal val="90"/>
                                          </p:val>
                                        </p:tav>
                                        <p:tav tm="100000">
                                          <p:val>
                                            <p:fltVal val="0"/>
                                          </p:val>
                                        </p:tav>
                                      </p:tavLst>
                                    </p:anim>
                                    <p:animEffect transition="in" filter="fade">
                                      <p:cBhvr>
                                        <p:cTn id="46" dur="2000"/>
                                        <p:tgtEl>
                                          <p:spTgt spid="8"/>
                                        </p:tgtEl>
                                      </p:cBhvr>
                                    </p:animEffect>
                                  </p:childTnLst>
                                </p:cTn>
                              </p:par>
                              <p:par>
                                <p:cTn id="47" presetID="31" presetClass="entr" presetSubtype="0" fill="hold" grpId="0" nodeType="withEffect">
                                  <p:stCondLst>
                                    <p:cond delay="250"/>
                                  </p:stCondLst>
                                  <p:childTnLst>
                                    <p:set>
                                      <p:cBhvr>
                                        <p:cTn id="48" dur="1" fill="hold">
                                          <p:stCondLst>
                                            <p:cond delay="0"/>
                                          </p:stCondLst>
                                        </p:cTn>
                                        <p:tgtEl>
                                          <p:spTgt spid="9"/>
                                        </p:tgtEl>
                                        <p:attrNameLst>
                                          <p:attrName>style.visibility</p:attrName>
                                        </p:attrNameLst>
                                      </p:cBhvr>
                                      <p:to>
                                        <p:strVal val="visible"/>
                                      </p:to>
                                    </p:set>
                                    <p:anim calcmode="lin" valueType="num">
                                      <p:cBhvr>
                                        <p:cTn id="49" dur="2000" fill="hold"/>
                                        <p:tgtEl>
                                          <p:spTgt spid="9"/>
                                        </p:tgtEl>
                                        <p:attrNameLst>
                                          <p:attrName>ppt_w</p:attrName>
                                        </p:attrNameLst>
                                      </p:cBhvr>
                                      <p:tavLst>
                                        <p:tav tm="0">
                                          <p:val>
                                            <p:fltVal val="0"/>
                                          </p:val>
                                        </p:tav>
                                        <p:tav tm="100000">
                                          <p:val>
                                            <p:strVal val="#ppt_w"/>
                                          </p:val>
                                        </p:tav>
                                      </p:tavLst>
                                    </p:anim>
                                    <p:anim calcmode="lin" valueType="num">
                                      <p:cBhvr>
                                        <p:cTn id="50" dur="2000" fill="hold"/>
                                        <p:tgtEl>
                                          <p:spTgt spid="9"/>
                                        </p:tgtEl>
                                        <p:attrNameLst>
                                          <p:attrName>ppt_h</p:attrName>
                                        </p:attrNameLst>
                                      </p:cBhvr>
                                      <p:tavLst>
                                        <p:tav tm="0">
                                          <p:val>
                                            <p:fltVal val="0"/>
                                          </p:val>
                                        </p:tav>
                                        <p:tav tm="100000">
                                          <p:val>
                                            <p:strVal val="#ppt_h"/>
                                          </p:val>
                                        </p:tav>
                                      </p:tavLst>
                                    </p:anim>
                                    <p:anim calcmode="lin" valueType="num">
                                      <p:cBhvr>
                                        <p:cTn id="51" dur="2000" fill="hold"/>
                                        <p:tgtEl>
                                          <p:spTgt spid="9"/>
                                        </p:tgtEl>
                                        <p:attrNameLst>
                                          <p:attrName>style.rotation</p:attrName>
                                        </p:attrNameLst>
                                      </p:cBhvr>
                                      <p:tavLst>
                                        <p:tav tm="0">
                                          <p:val>
                                            <p:fltVal val="90"/>
                                          </p:val>
                                        </p:tav>
                                        <p:tav tm="100000">
                                          <p:val>
                                            <p:fltVal val="0"/>
                                          </p:val>
                                        </p:tav>
                                      </p:tavLst>
                                    </p:anim>
                                    <p:animEffect transition="in" filter="fade">
                                      <p:cBhvr>
                                        <p:cTn id="52"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5" grpId="0"/>
      <p:bldP spid="6" grpId="0"/>
      <p:bldP spid="7" grpId="0"/>
      <p:bldP spid="8" grpId="0"/>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466919-A4CD-21F9-60C0-DA79B990EF24}"/>
              </a:ext>
            </a:extLst>
          </p:cNvPr>
          <p:cNvSpPr txBox="1"/>
          <p:nvPr/>
        </p:nvSpPr>
        <p:spPr>
          <a:xfrm>
            <a:off x="2305734" y="789354"/>
            <a:ext cx="7580532" cy="646331"/>
          </a:xfrm>
          <a:prstGeom prst="rect">
            <a:avLst/>
          </a:prstGeom>
          <a:effectLst>
            <a:innerShdw blurRad="63500" dist="50800" dir="8100000">
              <a:prstClr val="black">
                <a:alpha val="50000"/>
              </a:prstClr>
            </a:innerShdw>
          </a:effectLst>
        </p:spPr>
        <p:style>
          <a:lnRef idx="1">
            <a:schemeClr val="dk1"/>
          </a:lnRef>
          <a:fillRef idx="2">
            <a:schemeClr val="dk1"/>
          </a:fillRef>
          <a:effectRef idx="1">
            <a:schemeClr val="dk1"/>
          </a:effectRef>
          <a:fontRef idx="minor">
            <a:schemeClr val="dk1"/>
          </a:fontRef>
        </p:style>
        <p:txBody>
          <a:bodyPr vert="horz" wrap="square" rtlCol="0">
            <a:spAutoFit/>
          </a:bodyPr>
          <a:lstStyle/>
          <a:p>
            <a:pPr algn="ctr"/>
            <a:r>
              <a:rPr lang="en-US" sz="3600" b="1" dirty="0">
                <a:solidFill>
                  <a:schemeClr val="tx1"/>
                </a:solidFill>
                <a:latin typeface="Arial Rounded MT Bold" panose="020F0704030504030204" pitchFamily="34" charset="0"/>
              </a:rPr>
              <a:t>Deep-Dive Portfolio Diagnostics</a:t>
            </a:r>
          </a:p>
        </p:txBody>
      </p:sp>
      <p:sp>
        <p:nvSpPr>
          <p:cNvPr id="3" name="TextBox 2">
            <a:extLst>
              <a:ext uri="{FF2B5EF4-FFF2-40B4-BE49-F238E27FC236}">
                <a16:creationId xmlns:a16="http://schemas.microsoft.com/office/drawing/2014/main" id="{6336CE94-D616-5A22-B4BD-5601BC62492A}"/>
              </a:ext>
            </a:extLst>
          </p:cNvPr>
          <p:cNvSpPr txBox="1"/>
          <p:nvPr/>
        </p:nvSpPr>
        <p:spPr>
          <a:xfrm>
            <a:off x="1312204" y="2248017"/>
            <a:ext cx="5080000" cy="2615184"/>
          </a:xfrm>
          <a:prstGeom prst="rect">
            <a:avLst/>
          </a:prstGeom>
          <a:noFill/>
        </p:spPr>
        <p:txBody>
          <a:bodyPr vert="horz" wrap="square" rtlCol="0">
            <a:spAutoFit/>
          </a:bodyPr>
          <a:lstStyle/>
          <a:p>
            <a:r>
              <a:rPr lang="en-US" sz="2000" b="1" dirty="0">
                <a:solidFill>
                  <a:schemeClr val="accent2">
                    <a:lumMod val="60000"/>
                    <a:lumOff val="40000"/>
                  </a:schemeClr>
                </a:solidFill>
              </a:rPr>
              <a:t>Product &amp; Regional Value Drivers</a:t>
            </a:r>
          </a:p>
          <a:p>
            <a:endParaRPr lang="en-US" sz="1600" dirty="0">
              <a:solidFill>
                <a:srgbClr val="212121"/>
              </a:solidFill>
            </a:endParaRPr>
          </a:p>
          <a:p>
            <a:r>
              <a:rPr lang="en-US" sz="1600" dirty="0">
                <a:solidFill>
                  <a:schemeClr val="tx1">
                    <a:lumMod val="85000"/>
                  </a:schemeClr>
                </a:solidFill>
              </a:rPr>
              <a:t>• Core Product Revenue Engine: Paseo emerged as the primary portfolio anchor, securing over $31M in total sales.</a:t>
            </a:r>
          </a:p>
          <a:p>
            <a:endParaRPr lang="en-US" sz="1600" dirty="0">
              <a:solidFill>
                <a:schemeClr val="tx1">
                  <a:lumMod val="85000"/>
                </a:schemeClr>
              </a:solidFill>
            </a:endParaRPr>
          </a:p>
          <a:p>
            <a:r>
              <a:rPr lang="en-US" sz="1600" dirty="0">
                <a:solidFill>
                  <a:schemeClr val="tx1">
                    <a:lumMod val="85000"/>
                  </a:schemeClr>
                </a:solidFill>
              </a:rPr>
              <a:t>• Regional Efficiencies: Canada captured operational volume leadership (0.23M orders), while France and Germany locked in the highest clean structural margin health at 14.73%.</a:t>
            </a:r>
          </a:p>
        </p:txBody>
      </p:sp>
      <p:sp>
        <p:nvSpPr>
          <p:cNvPr id="4" name="TextBox 3">
            <a:extLst>
              <a:ext uri="{FF2B5EF4-FFF2-40B4-BE49-F238E27FC236}">
                <a16:creationId xmlns:a16="http://schemas.microsoft.com/office/drawing/2014/main" id="{D520EC3C-19A6-7360-0FE9-B83C7CCF7081}"/>
              </a:ext>
            </a:extLst>
          </p:cNvPr>
          <p:cNvSpPr txBox="1"/>
          <p:nvPr/>
        </p:nvSpPr>
        <p:spPr>
          <a:xfrm>
            <a:off x="6743895" y="2247559"/>
            <a:ext cx="5080000" cy="2616101"/>
          </a:xfrm>
          <a:prstGeom prst="rect">
            <a:avLst/>
          </a:prstGeom>
          <a:noFill/>
        </p:spPr>
        <p:txBody>
          <a:bodyPr vert="horz" wrap="square" rtlCol="0">
            <a:spAutoFit/>
          </a:bodyPr>
          <a:lstStyle/>
          <a:p>
            <a:r>
              <a:rPr lang="en-US" sz="2000" b="1" dirty="0">
                <a:solidFill>
                  <a:schemeClr val="accent3">
                    <a:lumMod val="60000"/>
                    <a:lumOff val="40000"/>
                  </a:schemeClr>
                </a:solidFill>
              </a:rPr>
              <a:t>B2B Segment Disparities</a:t>
            </a:r>
          </a:p>
          <a:p>
            <a:endParaRPr lang="en-US" sz="1600" dirty="0">
              <a:solidFill>
                <a:srgbClr val="212121"/>
              </a:solidFill>
            </a:endParaRPr>
          </a:p>
          <a:p>
            <a:r>
              <a:rPr lang="en-US" sz="1600" dirty="0">
                <a:solidFill>
                  <a:schemeClr val="tx1">
                    <a:lumMod val="85000"/>
                  </a:schemeClr>
                </a:solidFill>
              </a:rPr>
              <a:t>• Channel Partner Optimization: Delivered exceptional, low-friction performance running at a 72.87% profit margin.</a:t>
            </a:r>
          </a:p>
          <a:p>
            <a:endParaRPr lang="en-US" sz="1600" dirty="0">
              <a:solidFill>
                <a:schemeClr val="tx1">
                  <a:lumMod val="85000"/>
                </a:schemeClr>
              </a:solidFill>
            </a:endParaRPr>
          </a:p>
          <a:p>
            <a:r>
              <a:rPr lang="en-US" sz="1600" dirty="0">
                <a:solidFill>
                  <a:schemeClr val="tx1">
                    <a:lumMod val="85000"/>
                  </a:schemeClr>
                </a:solidFill>
              </a:rPr>
              <a:t>• Enterprise Critical Action Alert: The Enterprise business segment operated at a net negative margin (-3.74%), exposing an immediate operational demand for target price restructuring or aggressive cost containment.</a:t>
            </a:r>
          </a:p>
        </p:txBody>
      </p:sp>
    </p:spTree>
    <p:extLst>
      <p:ext uri="{BB962C8B-B14F-4D97-AF65-F5344CB8AC3E}">
        <p14:creationId xmlns:p14="http://schemas.microsoft.com/office/powerpoint/2010/main" val="30120903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20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200"/>
                            </p:stCondLst>
                            <p:childTnLst>
                              <p:par>
                                <p:cTn id="8" presetID="1" presetClass="entr" presetSubtype="0" fill="hold" grpId="0" nodeType="afterEffect">
                                  <p:stCondLst>
                                    <p:cond delay="200"/>
                                  </p:stCondLst>
                                  <p:childTnLst>
                                    <p:set>
                                      <p:cBhvr>
                                        <p:cTn id="9" dur="1" fill="hold">
                                          <p:stCondLst>
                                            <p:cond delay="0"/>
                                          </p:stCondLst>
                                        </p:cTn>
                                        <p:tgtEl>
                                          <p:spTgt spid="3"/>
                                        </p:tgtEl>
                                        <p:attrNameLst>
                                          <p:attrName>style.visibility</p:attrName>
                                        </p:attrNameLst>
                                      </p:cBhvr>
                                      <p:to>
                                        <p:strVal val="visible"/>
                                      </p:to>
                                    </p:set>
                                  </p:childTnLst>
                                </p:cTn>
                              </p:par>
                            </p:childTnLst>
                          </p:cTn>
                        </p:par>
                        <p:par>
                          <p:cTn id="10" fill="hold">
                            <p:stCondLst>
                              <p:cond delay="400"/>
                            </p:stCondLst>
                            <p:childTnLst>
                              <p:par>
                                <p:cTn id="11" presetID="1" presetClass="entr" presetSubtype="0" fill="hold" grpId="0" nodeType="afterEffect">
                                  <p:stCondLst>
                                    <p:cond delay="20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F1ED2-7FB2-48A7-D381-E19137E27A73}"/>
              </a:ext>
            </a:extLst>
          </p:cNvPr>
          <p:cNvSpPr txBox="1"/>
          <p:nvPr/>
        </p:nvSpPr>
        <p:spPr>
          <a:xfrm>
            <a:off x="1653735" y="482507"/>
            <a:ext cx="9250289" cy="646331"/>
          </a:xfrm>
          <a:prstGeom prst="rect">
            <a:avLst/>
          </a:prstGeom>
          <a:effectLst>
            <a:innerShdw blurRad="63500" dist="50800" dir="8100000">
              <a:prstClr val="black">
                <a:alpha val="50000"/>
              </a:prstClr>
            </a:innerShdw>
          </a:effectLst>
        </p:spPr>
        <p:style>
          <a:lnRef idx="1">
            <a:schemeClr val="dk1"/>
          </a:lnRef>
          <a:fillRef idx="2">
            <a:schemeClr val="dk1"/>
          </a:fillRef>
          <a:effectRef idx="1">
            <a:schemeClr val="dk1"/>
          </a:effectRef>
          <a:fontRef idx="minor">
            <a:schemeClr val="dk1"/>
          </a:fontRef>
        </p:style>
        <p:txBody>
          <a:bodyPr vert="horz" wrap="square" rtlCol="0" anchor="ctr">
            <a:spAutoFit/>
          </a:bodyPr>
          <a:lstStyle/>
          <a:p>
            <a:pPr algn="ctr"/>
            <a:r>
              <a:rPr lang="en-US" sz="3600" b="1" dirty="0">
                <a:solidFill>
                  <a:schemeClr val="tx1"/>
                </a:solidFill>
                <a:latin typeface="Arial Rounded MT Bold" panose="020F0704030504030204" pitchFamily="34" charset="0"/>
              </a:rPr>
              <a:t>Dynamic UI Design &amp; Discovery Features</a:t>
            </a:r>
          </a:p>
        </p:txBody>
      </p:sp>
      <p:sp>
        <p:nvSpPr>
          <p:cNvPr id="3" name="TextBox 2">
            <a:extLst>
              <a:ext uri="{FF2B5EF4-FFF2-40B4-BE49-F238E27FC236}">
                <a16:creationId xmlns:a16="http://schemas.microsoft.com/office/drawing/2014/main" id="{3511F7B7-C777-6678-4B52-273580FA0866}"/>
              </a:ext>
            </a:extLst>
          </p:cNvPr>
          <p:cNvSpPr txBox="1"/>
          <p:nvPr/>
        </p:nvSpPr>
        <p:spPr>
          <a:xfrm>
            <a:off x="1393483" y="1813173"/>
            <a:ext cx="10798517" cy="3231654"/>
          </a:xfrm>
          <a:prstGeom prst="rect">
            <a:avLst/>
          </a:prstGeom>
          <a:noFill/>
        </p:spPr>
        <p:txBody>
          <a:bodyPr vert="horz" wrap="square" rtlCol="0">
            <a:spAutoFit/>
          </a:bodyPr>
          <a:lstStyle/>
          <a:p>
            <a:r>
              <a:rPr lang="en-US" sz="2000" b="1" dirty="0">
                <a:solidFill>
                  <a:schemeClr val="accent5">
                    <a:lumMod val="60000"/>
                    <a:lumOff val="40000"/>
                  </a:schemeClr>
                </a:solidFill>
                <a:latin typeface="Arial Rounded MT Bold" panose="020F0704030504030204" pitchFamily="34" charset="0"/>
              </a:rPr>
              <a:t>• Comprehensive Cross-Filtering Workspace</a:t>
            </a:r>
          </a:p>
          <a:p>
            <a:pPr marL="365760"/>
            <a:r>
              <a:rPr lang="en-US" dirty="0">
                <a:solidFill>
                  <a:schemeClr val="tx1">
                    <a:lumMod val="85000"/>
                  </a:schemeClr>
                </a:solidFill>
              </a:rPr>
              <a:t>Isolates individual markets or asset lines dynamically. Selecting a single product class or geographic region updates every visual element across the canvas instantly.</a:t>
            </a:r>
          </a:p>
          <a:p>
            <a:endParaRPr lang="en-US" b="1" dirty="0">
              <a:solidFill>
                <a:srgbClr val="14325A"/>
              </a:solidFill>
            </a:endParaRPr>
          </a:p>
          <a:p>
            <a:r>
              <a:rPr lang="en-US" sz="2000" b="1" dirty="0">
                <a:solidFill>
                  <a:schemeClr val="accent5">
                    <a:lumMod val="60000"/>
                    <a:lumOff val="40000"/>
                  </a:schemeClr>
                </a:solidFill>
                <a:latin typeface="Arial Rounded MT Bold" panose="020F0704030504030204" pitchFamily="34" charset="0"/>
              </a:rPr>
              <a:t>• Hierarchical Micro-Auditing Matrix</a:t>
            </a:r>
          </a:p>
          <a:p>
            <a:pPr marL="365760"/>
            <a:r>
              <a:rPr lang="en-US" b="1" dirty="0">
                <a:solidFill>
                  <a:schemeClr val="tx1">
                    <a:lumMod val="85000"/>
                  </a:schemeClr>
                </a:solidFill>
              </a:rPr>
              <a:t>Enables seamless root-cause discovery. Viewers can expand broad corporate segments down to specific item layers to pinpoint underperforming contracts.</a:t>
            </a:r>
          </a:p>
          <a:p>
            <a:r>
              <a:rPr lang="en-US" b="1" dirty="0">
                <a:solidFill>
                  <a:schemeClr val="tx1">
                    <a:lumMod val="85000"/>
                  </a:schemeClr>
                </a:solidFill>
              </a:rPr>
              <a:t> </a:t>
            </a:r>
            <a:endParaRPr lang="en-US" dirty="0">
              <a:solidFill>
                <a:srgbClr val="212121"/>
              </a:solidFill>
            </a:endParaRPr>
          </a:p>
          <a:p>
            <a:r>
              <a:rPr lang="en-US" sz="2000" b="1" dirty="0">
                <a:solidFill>
                  <a:schemeClr val="accent5">
                    <a:lumMod val="60000"/>
                    <a:lumOff val="40000"/>
                  </a:schemeClr>
                </a:solidFill>
                <a:latin typeface="Arial Rounded MT Bold" panose="020F0704030504030204" pitchFamily="34" charset="0"/>
              </a:rPr>
              <a:t>• Programmatic UI Feedback Controls (ValueColor)</a:t>
            </a:r>
          </a:p>
          <a:p>
            <a:pPr marL="365760" lvl="1"/>
            <a:r>
              <a:rPr lang="en-US" dirty="0">
                <a:solidFill>
                  <a:schemeClr val="tx1">
                    <a:lumMod val="85000"/>
                  </a:schemeClr>
                </a:solidFill>
              </a:rPr>
              <a:t>Engineered advanced DAX logical routing to handle conditional color formatting, instantly directing executive      focus toward critical variance metrics.</a:t>
            </a:r>
          </a:p>
        </p:txBody>
      </p:sp>
    </p:spTree>
    <p:extLst>
      <p:ext uri="{BB962C8B-B14F-4D97-AF65-F5344CB8AC3E}">
        <p14:creationId xmlns:p14="http://schemas.microsoft.com/office/powerpoint/2010/main" val="24382481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25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20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20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2000"/>
                                        <p:tgtEl>
                                          <p:spTgt spid="2">
                                            <p:txEl>
                                              <p:pRg st="0" end="0"/>
                                            </p:txEl>
                                          </p:spTgt>
                                        </p:tgtEl>
                                      </p:cBhvr>
                                    </p:animEffect>
                                  </p:childTnLst>
                                </p:cTn>
                              </p:par>
                            </p:childTnLst>
                          </p:cTn>
                        </p:par>
                        <p:par>
                          <p:cTn id="10" fill="hold">
                            <p:stCondLst>
                              <p:cond delay="2250"/>
                            </p:stCondLst>
                            <p:childTnLst>
                              <p:par>
                                <p:cTn id="11" presetID="53" presetClass="entr" presetSubtype="16" fill="hold" grpId="0" nodeType="afterEffect">
                                  <p:stCondLst>
                                    <p:cond delay="250"/>
                                  </p:stCondLst>
                                  <p:childTnLst>
                                    <p:set>
                                      <p:cBhvr>
                                        <p:cTn id="12" dur="1" fill="hold">
                                          <p:stCondLst>
                                            <p:cond delay="0"/>
                                          </p:stCondLst>
                                        </p:cTn>
                                        <p:tgtEl>
                                          <p:spTgt spid="2">
                                            <p:bg/>
                                          </p:spTgt>
                                        </p:tgtEl>
                                        <p:attrNameLst>
                                          <p:attrName>style.visibility</p:attrName>
                                        </p:attrNameLst>
                                      </p:cBhvr>
                                      <p:to>
                                        <p:strVal val="visible"/>
                                      </p:to>
                                    </p:set>
                                    <p:anim calcmode="lin" valueType="num">
                                      <p:cBhvr>
                                        <p:cTn id="13" dur="2000" fill="hold"/>
                                        <p:tgtEl>
                                          <p:spTgt spid="2">
                                            <p:bg/>
                                          </p:spTgt>
                                        </p:tgtEl>
                                        <p:attrNameLst>
                                          <p:attrName>ppt_w</p:attrName>
                                        </p:attrNameLst>
                                      </p:cBhvr>
                                      <p:tavLst>
                                        <p:tav tm="0">
                                          <p:val>
                                            <p:fltVal val="0"/>
                                          </p:val>
                                        </p:tav>
                                        <p:tav tm="100000">
                                          <p:val>
                                            <p:strVal val="#ppt_w"/>
                                          </p:val>
                                        </p:tav>
                                      </p:tavLst>
                                    </p:anim>
                                    <p:anim calcmode="lin" valueType="num">
                                      <p:cBhvr>
                                        <p:cTn id="14" dur="2000" fill="hold"/>
                                        <p:tgtEl>
                                          <p:spTgt spid="2">
                                            <p:bg/>
                                          </p:spTgt>
                                        </p:tgtEl>
                                        <p:attrNameLst>
                                          <p:attrName>ppt_h</p:attrName>
                                        </p:attrNameLst>
                                      </p:cBhvr>
                                      <p:tavLst>
                                        <p:tav tm="0">
                                          <p:val>
                                            <p:fltVal val="0"/>
                                          </p:val>
                                        </p:tav>
                                        <p:tav tm="100000">
                                          <p:val>
                                            <p:strVal val="#ppt_h"/>
                                          </p:val>
                                        </p:tav>
                                      </p:tavLst>
                                    </p:anim>
                                    <p:animEffect transition="in" filter="fade">
                                      <p:cBhvr>
                                        <p:cTn id="15" dur="2000"/>
                                        <p:tgtEl>
                                          <p:spTgt spid="2">
                                            <p:bg/>
                                          </p:spTgt>
                                        </p:tgtEl>
                                      </p:cBhvr>
                                    </p:animEffect>
                                  </p:childTnLst>
                                </p:cTn>
                              </p:par>
                            </p:childTnLst>
                          </p:cTn>
                        </p:par>
                        <p:par>
                          <p:cTn id="16" fill="hold">
                            <p:stCondLst>
                              <p:cond delay="4500"/>
                            </p:stCondLst>
                            <p:childTnLst>
                              <p:par>
                                <p:cTn id="17" presetID="53" presetClass="entr" presetSubtype="16" fill="hold" grpId="0" nodeType="afterEffect">
                                  <p:stCondLst>
                                    <p:cond delay="25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p:cTn id="19" dur="2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20" dur="20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21" dur="2000"/>
                                        <p:tgtEl>
                                          <p:spTgt spid="3">
                                            <p:txEl>
                                              <p:pRg st="0" end="0"/>
                                            </p:txEl>
                                          </p:spTgt>
                                        </p:tgtEl>
                                      </p:cBhvr>
                                    </p:animEffect>
                                  </p:childTnLst>
                                </p:cTn>
                              </p:par>
                            </p:childTnLst>
                          </p:cTn>
                        </p:par>
                        <p:par>
                          <p:cTn id="22" fill="hold">
                            <p:stCondLst>
                              <p:cond delay="6750"/>
                            </p:stCondLst>
                            <p:childTnLst>
                              <p:par>
                                <p:cTn id="23" presetID="53" presetClass="entr" presetSubtype="16" fill="hold" grpId="0" nodeType="afterEffect">
                                  <p:stCondLst>
                                    <p:cond delay="250"/>
                                  </p:stCondLst>
                                  <p:childTnLst>
                                    <p:set>
                                      <p:cBhvr>
                                        <p:cTn id="24" dur="1" fill="hold">
                                          <p:stCondLst>
                                            <p:cond delay="0"/>
                                          </p:stCondLst>
                                        </p:cTn>
                                        <p:tgtEl>
                                          <p:spTgt spid="3">
                                            <p:txEl>
                                              <p:pRg st="1" end="1"/>
                                            </p:txEl>
                                          </p:spTgt>
                                        </p:tgtEl>
                                        <p:attrNameLst>
                                          <p:attrName>style.visibility</p:attrName>
                                        </p:attrNameLst>
                                      </p:cBhvr>
                                      <p:to>
                                        <p:strVal val="visible"/>
                                      </p:to>
                                    </p:set>
                                    <p:anim calcmode="lin" valueType="num">
                                      <p:cBhvr>
                                        <p:cTn id="25" dur="2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6" dur="20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7" dur="2000"/>
                                        <p:tgtEl>
                                          <p:spTgt spid="3">
                                            <p:txEl>
                                              <p:pRg st="1" end="1"/>
                                            </p:txEl>
                                          </p:spTgt>
                                        </p:tgtEl>
                                      </p:cBhvr>
                                    </p:animEffect>
                                  </p:childTnLst>
                                </p:cTn>
                              </p:par>
                            </p:childTnLst>
                          </p:cTn>
                        </p:par>
                        <p:par>
                          <p:cTn id="28" fill="hold">
                            <p:stCondLst>
                              <p:cond delay="9000"/>
                            </p:stCondLst>
                            <p:childTnLst>
                              <p:par>
                                <p:cTn id="29" presetID="53" presetClass="entr" presetSubtype="16" fill="hold" grpId="0" nodeType="afterEffect">
                                  <p:stCondLst>
                                    <p:cond delay="25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p:cTn id="31" dur="2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2" dur="20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3" dur="2000"/>
                                        <p:tgtEl>
                                          <p:spTgt spid="3">
                                            <p:txEl>
                                              <p:pRg st="3" end="3"/>
                                            </p:txEl>
                                          </p:spTgt>
                                        </p:tgtEl>
                                      </p:cBhvr>
                                    </p:animEffect>
                                  </p:childTnLst>
                                </p:cTn>
                              </p:par>
                            </p:childTnLst>
                          </p:cTn>
                        </p:par>
                        <p:par>
                          <p:cTn id="34" fill="hold">
                            <p:stCondLst>
                              <p:cond delay="11250"/>
                            </p:stCondLst>
                            <p:childTnLst>
                              <p:par>
                                <p:cTn id="35" presetID="53" presetClass="entr" presetSubtype="16" fill="hold" grpId="0" nodeType="afterEffect">
                                  <p:stCondLst>
                                    <p:cond delay="25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p:cTn id="37" dur="2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8" dur="20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9" dur="2000"/>
                                        <p:tgtEl>
                                          <p:spTgt spid="3">
                                            <p:txEl>
                                              <p:pRg st="4" end="4"/>
                                            </p:txEl>
                                          </p:spTgt>
                                        </p:tgtEl>
                                      </p:cBhvr>
                                    </p:animEffect>
                                  </p:childTnLst>
                                </p:cTn>
                              </p:par>
                            </p:childTnLst>
                          </p:cTn>
                        </p:par>
                        <p:par>
                          <p:cTn id="40" fill="hold">
                            <p:stCondLst>
                              <p:cond delay="13500"/>
                            </p:stCondLst>
                            <p:childTnLst>
                              <p:par>
                                <p:cTn id="41" presetID="53" presetClass="entr" presetSubtype="16" fill="hold" grpId="0" nodeType="afterEffect">
                                  <p:stCondLst>
                                    <p:cond delay="25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p:cTn id="43" dur="2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4" dur="20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45" dur="2000"/>
                                        <p:tgtEl>
                                          <p:spTgt spid="3">
                                            <p:txEl>
                                              <p:pRg st="5" end="5"/>
                                            </p:txEl>
                                          </p:spTgt>
                                        </p:tgtEl>
                                      </p:cBhvr>
                                    </p:animEffect>
                                  </p:childTnLst>
                                </p:cTn>
                              </p:par>
                            </p:childTnLst>
                          </p:cTn>
                        </p:par>
                        <p:par>
                          <p:cTn id="46" fill="hold">
                            <p:stCondLst>
                              <p:cond delay="15750"/>
                            </p:stCondLst>
                            <p:childTnLst>
                              <p:par>
                                <p:cTn id="47" presetID="53" presetClass="entr" presetSubtype="16" fill="hold" grpId="0" nodeType="afterEffect">
                                  <p:stCondLst>
                                    <p:cond delay="25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p:cTn id="49" dur="2000" fill="hold"/>
                                        <p:tgtEl>
                                          <p:spTgt spid="3">
                                            <p:txEl>
                                              <p:pRg st="6" end="6"/>
                                            </p:txEl>
                                          </p:spTgt>
                                        </p:tgtEl>
                                        <p:attrNameLst>
                                          <p:attrName>ppt_w</p:attrName>
                                        </p:attrNameLst>
                                      </p:cBhvr>
                                      <p:tavLst>
                                        <p:tav tm="0">
                                          <p:val>
                                            <p:fltVal val="0"/>
                                          </p:val>
                                        </p:tav>
                                        <p:tav tm="100000">
                                          <p:val>
                                            <p:strVal val="#ppt_w"/>
                                          </p:val>
                                        </p:tav>
                                      </p:tavLst>
                                    </p:anim>
                                    <p:anim calcmode="lin" valueType="num">
                                      <p:cBhvr>
                                        <p:cTn id="50" dur="20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51" dur="2000"/>
                                        <p:tgtEl>
                                          <p:spTgt spid="3">
                                            <p:txEl>
                                              <p:pRg st="6" end="6"/>
                                            </p:txEl>
                                          </p:spTgt>
                                        </p:tgtEl>
                                      </p:cBhvr>
                                    </p:animEffect>
                                  </p:childTnLst>
                                </p:cTn>
                              </p:par>
                            </p:childTnLst>
                          </p:cTn>
                        </p:par>
                        <p:par>
                          <p:cTn id="52" fill="hold">
                            <p:stCondLst>
                              <p:cond delay="18000"/>
                            </p:stCondLst>
                            <p:childTnLst>
                              <p:par>
                                <p:cTn id="53" presetID="53" presetClass="entr" presetSubtype="16" fill="hold" grpId="0" nodeType="afterEffect">
                                  <p:stCondLst>
                                    <p:cond delay="250"/>
                                  </p:stCondLst>
                                  <p:childTnLst>
                                    <p:set>
                                      <p:cBhvr>
                                        <p:cTn id="54" dur="1" fill="hold">
                                          <p:stCondLst>
                                            <p:cond delay="0"/>
                                          </p:stCondLst>
                                        </p:cTn>
                                        <p:tgtEl>
                                          <p:spTgt spid="3">
                                            <p:txEl>
                                              <p:pRg st="7" end="7"/>
                                            </p:txEl>
                                          </p:spTgt>
                                        </p:tgtEl>
                                        <p:attrNameLst>
                                          <p:attrName>style.visibility</p:attrName>
                                        </p:attrNameLst>
                                      </p:cBhvr>
                                      <p:to>
                                        <p:strVal val="visible"/>
                                      </p:to>
                                    </p:set>
                                    <p:anim calcmode="lin" valueType="num">
                                      <p:cBhvr>
                                        <p:cTn id="55" dur="2000" fill="hold"/>
                                        <p:tgtEl>
                                          <p:spTgt spid="3">
                                            <p:txEl>
                                              <p:pRg st="7" end="7"/>
                                            </p:txEl>
                                          </p:spTgt>
                                        </p:tgtEl>
                                        <p:attrNameLst>
                                          <p:attrName>ppt_w</p:attrName>
                                        </p:attrNameLst>
                                      </p:cBhvr>
                                      <p:tavLst>
                                        <p:tav tm="0">
                                          <p:val>
                                            <p:fltVal val="0"/>
                                          </p:val>
                                        </p:tav>
                                        <p:tav tm="100000">
                                          <p:val>
                                            <p:strVal val="#ppt_w"/>
                                          </p:val>
                                        </p:tav>
                                      </p:tavLst>
                                    </p:anim>
                                    <p:anim calcmode="lin" valueType="num">
                                      <p:cBhvr>
                                        <p:cTn id="56" dur="20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5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B16DAE-2D60-7AD6-61E2-8B365673F40D}"/>
              </a:ext>
            </a:extLst>
          </p:cNvPr>
          <p:cNvSpPr txBox="1"/>
          <p:nvPr/>
        </p:nvSpPr>
        <p:spPr>
          <a:xfrm>
            <a:off x="1706196" y="465796"/>
            <a:ext cx="8779608" cy="707886"/>
          </a:xfrm>
          <a:prstGeom prst="rect">
            <a:avLst/>
          </a:prstGeom>
          <a:ln>
            <a:noFill/>
          </a:ln>
          <a:effectLst>
            <a:innerShdw blurRad="63500" dist="50800" dir="8100000">
              <a:prstClr val="black">
                <a:alpha val="50000"/>
              </a:prstClr>
            </a:innerShdw>
          </a:effectLst>
        </p:spPr>
        <p:style>
          <a:lnRef idx="1">
            <a:schemeClr val="dk1"/>
          </a:lnRef>
          <a:fillRef idx="2">
            <a:schemeClr val="dk1"/>
          </a:fillRef>
          <a:effectRef idx="1">
            <a:schemeClr val="dk1"/>
          </a:effectRef>
          <a:fontRef idx="minor">
            <a:schemeClr val="dk1"/>
          </a:fontRef>
        </p:style>
        <p:txBody>
          <a:bodyPr vert="horz" wrap="square" rtlCol="0" anchor="ctr">
            <a:spAutoFit/>
          </a:bodyPr>
          <a:lstStyle/>
          <a:p>
            <a:pPr algn="ctr"/>
            <a:r>
              <a:rPr lang="en-US" sz="4000" b="1" dirty="0">
                <a:solidFill>
                  <a:schemeClr val="tx1"/>
                </a:solidFill>
                <a:latin typeface="Arial Rounded MT Bold" panose="020F0704030504030204" pitchFamily="34" charset="0"/>
              </a:rPr>
              <a:t>Next-Phase Enterprise Roadmap</a:t>
            </a:r>
          </a:p>
        </p:txBody>
      </p:sp>
      <p:sp>
        <p:nvSpPr>
          <p:cNvPr id="3" name="Rectangle 2">
            <a:extLst>
              <a:ext uri="{FF2B5EF4-FFF2-40B4-BE49-F238E27FC236}">
                <a16:creationId xmlns:a16="http://schemas.microsoft.com/office/drawing/2014/main" id="{13C6F677-1842-F78A-A2BF-913A4AD1187C}"/>
              </a:ext>
            </a:extLst>
          </p:cNvPr>
          <p:cNvSpPr/>
          <p:nvPr/>
        </p:nvSpPr>
        <p:spPr>
          <a:xfrm>
            <a:off x="1425134" y="2122853"/>
            <a:ext cx="3302000" cy="3175000"/>
          </a:xfrm>
          <a:prstGeom prst="rect">
            <a:avLst/>
          </a:prstGeom>
          <a:blipFill dpi="0" rotWithShape="1">
            <a:blip r:embed="rId2">
              <a:duotone>
                <a:prstClr val="black"/>
                <a:schemeClr val="accent6">
                  <a:lumMod val="75000"/>
                  <a:tint val="45000"/>
                  <a:satMod val="400000"/>
                </a:schemeClr>
              </a:duotone>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tlCol="0" anchor="ctr"/>
          <a:lstStyle/>
          <a:p>
            <a:pPr algn="ctr"/>
            <a:r>
              <a:rPr lang="en-US" sz="2400" b="1" dirty="0">
                <a:solidFill>
                  <a:schemeClr val="tx1"/>
                </a:solidFill>
              </a:rPr>
              <a:t>Data Automation</a:t>
            </a:r>
          </a:p>
          <a:p>
            <a:pPr algn="ctr"/>
            <a:endParaRPr lang="en-US" sz="1500" b="1" dirty="0">
              <a:solidFill>
                <a:schemeClr val="tx1">
                  <a:lumMod val="95000"/>
                </a:schemeClr>
              </a:solidFill>
            </a:endParaRPr>
          </a:p>
          <a:p>
            <a:pPr algn="ctr"/>
            <a:r>
              <a:rPr lang="en-US" sz="1600" b="1" dirty="0">
                <a:solidFill>
                  <a:srgbClr val="FFC000"/>
                </a:solidFill>
              </a:rPr>
              <a:t>Migrate away from manual file maintenance toward automated scheduled pipelines using Power BI Service cloud environments</a:t>
            </a:r>
            <a:r>
              <a:rPr lang="en-US" sz="1600" b="1" dirty="0">
                <a:solidFill>
                  <a:schemeClr val="tx1">
                    <a:lumMod val="95000"/>
                  </a:schemeClr>
                </a:solidFill>
              </a:rPr>
              <a:t>.</a:t>
            </a:r>
          </a:p>
        </p:txBody>
      </p:sp>
      <p:sp>
        <p:nvSpPr>
          <p:cNvPr id="4" name="Rectangle 3">
            <a:extLst>
              <a:ext uri="{FF2B5EF4-FFF2-40B4-BE49-F238E27FC236}">
                <a16:creationId xmlns:a16="http://schemas.microsoft.com/office/drawing/2014/main" id="{D74997FE-53FF-DF20-DA2A-5750B6163554}"/>
              </a:ext>
            </a:extLst>
          </p:cNvPr>
          <p:cNvSpPr/>
          <p:nvPr/>
        </p:nvSpPr>
        <p:spPr>
          <a:xfrm>
            <a:off x="5092115" y="2148253"/>
            <a:ext cx="3302000" cy="3124200"/>
          </a:xfrm>
          <a:prstGeom prst="rect">
            <a:avLst/>
          </a:prstGeom>
          <a:blipFill dpi="0" rotWithShape="1">
            <a:blip r:embed="rId4">
              <a:duotone>
                <a:prstClr val="black"/>
                <a:schemeClr val="accent5">
                  <a:lumMod val="75000"/>
                  <a:tint val="45000"/>
                  <a:satMod val="400000"/>
                </a:schemeClr>
              </a:duotone>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tlCol="0" anchor="ctr"/>
          <a:lstStyle/>
          <a:p>
            <a:pPr algn="ctr"/>
            <a:r>
              <a:rPr lang="en-US" sz="2800" b="1" dirty="0">
                <a:solidFill>
                  <a:schemeClr val="tx1">
                    <a:lumMod val="95000"/>
                  </a:schemeClr>
                </a:solidFill>
              </a:rPr>
              <a:t>Access Security</a:t>
            </a:r>
          </a:p>
          <a:p>
            <a:pPr algn="ctr"/>
            <a:endParaRPr lang="en-US" sz="1500" dirty="0">
              <a:solidFill>
                <a:srgbClr val="212121"/>
              </a:solidFill>
            </a:endParaRPr>
          </a:p>
          <a:p>
            <a:pPr algn="ctr"/>
            <a:r>
              <a:rPr lang="en-US" sz="1600" b="1" dirty="0">
                <a:solidFill>
                  <a:srgbClr val="FFC000"/>
                </a:solidFill>
              </a:rPr>
              <a:t>Deploy granular Row-Level Security (RLS) filters to guarantee regional managers access only their relevant geographic records</a:t>
            </a:r>
            <a:r>
              <a:rPr lang="en-US" sz="1600" dirty="0">
                <a:solidFill>
                  <a:srgbClr val="212121"/>
                </a:solidFill>
              </a:rPr>
              <a:t>.</a:t>
            </a:r>
          </a:p>
        </p:txBody>
      </p:sp>
      <p:sp>
        <p:nvSpPr>
          <p:cNvPr id="5" name="Rectangle 4">
            <a:extLst>
              <a:ext uri="{FF2B5EF4-FFF2-40B4-BE49-F238E27FC236}">
                <a16:creationId xmlns:a16="http://schemas.microsoft.com/office/drawing/2014/main" id="{19D93C8E-0C34-7384-163B-8CC2F51D348B}"/>
              </a:ext>
            </a:extLst>
          </p:cNvPr>
          <p:cNvSpPr/>
          <p:nvPr/>
        </p:nvSpPr>
        <p:spPr>
          <a:xfrm>
            <a:off x="8745025" y="2148253"/>
            <a:ext cx="3302000" cy="3124200"/>
          </a:xfrm>
          <a:prstGeom prst="rect">
            <a:avLst/>
          </a:prstGeom>
          <a:blipFill dpi="0" rotWithShape="1">
            <a:blip r:embed="rId6">
              <a:duotone>
                <a:prstClr val="black"/>
                <a:schemeClr val="accent1">
                  <a:lumMod val="75000"/>
                  <a:tint val="45000"/>
                  <a:satMod val="400000"/>
                </a:schemeClr>
              </a:duotone>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90500" tIns="190500" rtlCol="0" anchor="ctr"/>
          <a:lstStyle/>
          <a:p>
            <a:pPr algn="ctr"/>
            <a:r>
              <a:rPr lang="en-US" sz="2800" b="1" dirty="0">
                <a:solidFill>
                  <a:schemeClr val="tx1"/>
                </a:solidFill>
              </a:rPr>
              <a:t>Predictive Insights</a:t>
            </a:r>
          </a:p>
          <a:p>
            <a:pPr algn="ctr"/>
            <a:endParaRPr lang="en-US" sz="1500" dirty="0">
              <a:solidFill>
                <a:srgbClr val="212121"/>
              </a:solidFill>
            </a:endParaRPr>
          </a:p>
          <a:p>
            <a:pPr algn="ctr"/>
            <a:r>
              <a:rPr lang="en-US" sz="1600" b="1" dirty="0">
                <a:solidFill>
                  <a:srgbClr val="FFC000"/>
                </a:solidFill>
              </a:rPr>
              <a:t>Build advanced time-series forecasting metrics to proactively map upcoming cyclical and seasonal operational demand spikes.</a:t>
            </a:r>
          </a:p>
        </p:txBody>
      </p:sp>
    </p:spTree>
    <p:extLst>
      <p:ext uri="{BB962C8B-B14F-4D97-AF65-F5344CB8AC3E}">
        <p14:creationId xmlns:p14="http://schemas.microsoft.com/office/powerpoint/2010/main" val="9370162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down)">
                                      <p:cBhvr>
                                        <p:cTn id="7" dur="72">
                                          <p:stCondLst>
                                            <p:cond delay="0"/>
                                          </p:stCondLst>
                                        </p:cTn>
                                        <p:tgtEl>
                                          <p:spTgt spid="2">
                                            <p:bg/>
                                          </p:spTgt>
                                        </p:tgtEl>
                                      </p:cBhvr>
                                    </p:animEffect>
                                    <p:anim calcmode="lin" valueType="num">
                                      <p:cBhvr>
                                        <p:cTn id="8" dur="228" tmFilter="0,0; 0.14,0.36; 0.43,0.73; 0.71,0.91; 1.0,1.0">
                                          <p:stCondLst>
                                            <p:cond delay="0"/>
                                          </p:stCondLst>
                                        </p:cTn>
                                        <p:tgtEl>
                                          <p:spTgt spid="2">
                                            <p:bg/>
                                          </p:spTgt>
                                        </p:tgtEl>
                                        <p:attrNameLst>
                                          <p:attrName>ppt_x</p:attrName>
                                        </p:attrNameLst>
                                      </p:cBhvr>
                                      <p:tavLst>
                                        <p:tav tm="0">
                                          <p:val>
                                            <p:strVal val="#ppt_x-0.25"/>
                                          </p:val>
                                        </p:tav>
                                        <p:tav tm="100000">
                                          <p:val>
                                            <p:strVal val="#ppt_x"/>
                                          </p:val>
                                        </p:tav>
                                      </p:tavLst>
                                    </p:anim>
                                    <p:anim calcmode="lin" valueType="num">
                                      <p:cBhvr>
                                        <p:cTn id="9" dur="83" tmFilter="0.0,0.0; 0.25,0.07; 0.50,0.2; 0.75,0.467; 1.0,1.0">
                                          <p:stCondLst>
                                            <p:cond delay="0"/>
                                          </p:stCondLst>
                                        </p:cTn>
                                        <p:tgtEl>
                                          <p:spTgt spid="2">
                                            <p:bg/>
                                          </p:spTgt>
                                        </p:tgtEl>
                                        <p:attrNameLst>
                                          <p:attrName>ppt_y</p:attrName>
                                        </p:attrNameLst>
                                      </p:cBhvr>
                                      <p:tavLst>
                                        <p:tav tm="0" fmla="#ppt_y-sin(pi*$)/3">
                                          <p:val>
                                            <p:fltVal val="0.5"/>
                                          </p:val>
                                        </p:tav>
                                        <p:tav tm="100000">
                                          <p:val>
                                            <p:fltVal val="1"/>
                                          </p:val>
                                        </p:tav>
                                      </p:tavLst>
                                    </p:anim>
                                    <p:anim calcmode="lin" valueType="num">
                                      <p:cBhvr>
                                        <p:cTn id="10" dur="83" tmFilter="0, 0; 0.125,0.2665; 0.25,0.4; 0.375,0.465; 0.5,0.5;  0.625,0.535; 0.75,0.6; 0.875,0.7335; 1,1">
                                          <p:stCondLst>
                                            <p:cond delay="83"/>
                                          </p:stCondLst>
                                        </p:cTn>
                                        <p:tgtEl>
                                          <p:spTgt spid="2">
                                            <p:bg/>
                                          </p:spTgt>
                                        </p:tgtEl>
                                        <p:attrNameLst>
                                          <p:attrName>ppt_y</p:attrName>
                                        </p:attrNameLst>
                                      </p:cBhvr>
                                      <p:tavLst>
                                        <p:tav tm="0" fmla="#ppt_y-sin(pi*$)/9">
                                          <p:val>
                                            <p:fltVal val="0"/>
                                          </p:val>
                                        </p:tav>
                                        <p:tav tm="100000">
                                          <p:val>
                                            <p:fltVal val="1"/>
                                          </p:val>
                                        </p:tav>
                                      </p:tavLst>
                                    </p:anim>
                                    <p:anim calcmode="lin" valueType="num">
                                      <p:cBhvr>
                                        <p:cTn id="11" dur="41" tmFilter="0, 0; 0.125,0.2665; 0.25,0.4; 0.375,0.465; 0.5,0.5;  0.625,0.535; 0.75,0.6; 0.875,0.7335; 1,1">
                                          <p:stCondLst>
                                            <p:cond delay="166"/>
                                          </p:stCondLst>
                                        </p:cTn>
                                        <p:tgtEl>
                                          <p:spTgt spid="2">
                                            <p:bg/>
                                          </p:spTgt>
                                        </p:tgtEl>
                                        <p:attrNameLst>
                                          <p:attrName>ppt_y</p:attrName>
                                        </p:attrNameLst>
                                      </p:cBhvr>
                                      <p:tavLst>
                                        <p:tav tm="0" fmla="#ppt_y-sin(pi*$)/27">
                                          <p:val>
                                            <p:fltVal val="0"/>
                                          </p:val>
                                        </p:tav>
                                        <p:tav tm="100000">
                                          <p:val>
                                            <p:fltVal val="1"/>
                                          </p:val>
                                        </p:tav>
                                      </p:tavLst>
                                    </p:anim>
                                    <p:anim calcmode="lin" valueType="num">
                                      <p:cBhvr>
                                        <p:cTn id="12" dur="21" tmFilter="0, 0; 0.125,0.2665; 0.25,0.4; 0.375,0.465; 0.5,0.5;  0.625,0.535; 0.75,0.6; 0.875,0.7335; 1,1">
                                          <p:stCondLst>
                                            <p:cond delay="207"/>
                                          </p:stCondLst>
                                        </p:cTn>
                                        <p:tgtEl>
                                          <p:spTgt spid="2">
                                            <p:bg/>
                                          </p:spTgt>
                                        </p:tgtEl>
                                        <p:attrNameLst>
                                          <p:attrName>ppt_y</p:attrName>
                                        </p:attrNameLst>
                                      </p:cBhvr>
                                      <p:tavLst>
                                        <p:tav tm="0" fmla="#ppt_y-sin(pi*$)/81">
                                          <p:val>
                                            <p:fltVal val="0"/>
                                          </p:val>
                                        </p:tav>
                                        <p:tav tm="100000">
                                          <p:val>
                                            <p:fltVal val="1"/>
                                          </p:val>
                                        </p:tav>
                                      </p:tavLst>
                                    </p:anim>
                                    <p:animScale>
                                      <p:cBhvr>
                                        <p:cTn id="13" dur="3">
                                          <p:stCondLst>
                                            <p:cond delay="81"/>
                                          </p:stCondLst>
                                        </p:cTn>
                                        <p:tgtEl>
                                          <p:spTgt spid="2">
                                            <p:bg/>
                                          </p:spTgt>
                                        </p:tgtEl>
                                      </p:cBhvr>
                                      <p:to x="100000" y="60000"/>
                                    </p:animScale>
                                    <p:animScale>
                                      <p:cBhvr>
                                        <p:cTn id="14" dur="21" decel="50000">
                                          <p:stCondLst>
                                            <p:cond delay="85"/>
                                          </p:stCondLst>
                                        </p:cTn>
                                        <p:tgtEl>
                                          <p:spTgt spid="2">
                                            <p:bg/>
                                          </p:spTgt>
                                        </p:tgtEl>
                                      </p:cBhvr>
                                      <p:to x="100000" y="100000"/>
                                    </p:animScale>
                                    <p:animScale>
                                      <p:cBhvr>
                                        <p:cTn id="15" dur="3">
                                          <p:stCondLst>
                                            <p:cond delay="164"/>
                                          </p:stCondLst>
                                        </p:cTn>
                                        <p:tgtEl>
                                          <p:spTgt spid="2">
                                            <p:bg/>
                                          </p:spTgt>
                                        </p:tgtEl>
                                      </p:cBhvr>
                                      <p:to x="100000" y="80000"/>
                                    </p:animScale>
                                    <p:animScale>
                                      <p:cBhvr>
                                        <p:cTn id="16" dur="21" decel="50000">
                                          <p:stCondLst>
                                            <p:cond delay="167"/>
                                          </p:stCondLst>
                                        </p:cTn>
                                        <p:tgtEl>
                                          <p:spTgt spid="2">
                                            <p:bg/>
                                          </p:spTgt>
                                        </p:tgtEl>
                                      </p:cBhvr>
                                      <p:to x="100000" y="100000"/>
                                    </p:animScale>
                                    <p:animScale>
                                      <p:cBhvr>
                                        <p:cTn id="17" dur="3">
                                          <p:stCondLst>
                                            <p:cond delay="205"/>
                                          </p:stCondLst>
                                        </p:cTn>
                                        <p:tgtEl>
                                          <p:spTgt spid="2">
                                            <p:bg/>
                                          </p:spTgt>
                                        </p:tgtEl>
                                      </p:cBhvr>
                                      <p:to x="100000" y="90000"/>
                                    </p:animScale>
                                    <p:animScale>
                                      <p:cBhvr>
                                        <p:cTn id="18" dur="21" decel="50000">
                                          <p:stCondLst>
                                            <p:cond delay="208"/>
                                          </p:stCondLst>
                                        </p:cTn>
                                        <p:tgtEl>
                                          <p:spTgt spid="2">
                                            <p:bg/>
                                          </p:spTgt>
                                        </p:tgtEl>
                                      </p:cBhvr>
                                      <p:to x="100000" y="100000"/>
                                    </p:animScale>
                                    <p:animScale>
                                      <p:cBhvr>
                                        <p:cTn id="19" dur="3">
                                          <p:stCondLst>
                                            <p:cond delay="226"/>
                                          </p:stCondLst>
                                        </p:cTn>
                                        <p:tgtEl>
                                          <p:spTgt spid="2">
                                            <p:bg/>
                                          </p:spTgt>
                                        </p:tgtEl>
                                      </p:cBhvr>
                                      <p:to x="100000" y="95000"/>
                                    </p:animScale>
                                    <p:animScale>
                                      <p:cBhvr>
                                        <p:cTn id="20" dur="21" decel="50000">
                                          <p:stCondLst>
                                            <p:cond delay="229"/>
                                          </p:stCondLst>
                                        </p:cTn>
                                        <p:tgtEl>
                                          <p:spTgt spid="2">
                                            <p:bg/>
                                          </p:spTgt>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animEffect transition="in" filter="wipe(down)">
                                      <p:cBhvr>
                                        <p:cTn id="23" dur="72">
                                          <p:stCondLst>
                                            <p:cond delay="0"/>
                                          </p:stCondLst>
                                        </p:cTn>
                                        <p:tgtEl>
                                          <p:spTgt spid="2">
                                            <p:txEl>
                                              <p:pRg st="0" end="0"/>
                                            </p:txEl>
                                          </p:spTgt>
                                        </p:tgtEl>
                                      </p:cBhvr>
                                    </p:animEffect>
                                    <p:anim calcmode="lin" valueType="num">
                                      <p:cBhvr>
                                        <p:cTn id="24" dur="228" tmFilter="0,0; 0.14,0.36; 0.43,0.73; 0.71,0.91; 1.0,1.0">
                                          <p:stCondLst>
                                            <p:cond delay="0"/>
                                          </p:stCondLst>
                                        </p:cTn>
                                        <p:tgtEl>
                                          <p:spTgt spid="2">
                                            <p:txEl>
                                              <p:pRg st="0" end="0"/>
                                            </p:txEl>
                                          </p:spTgt>
                                        </p:tgtEl>
                                        <p:attrNameLst>
                                          <p:attrName>ppt_x</p:attrName>
                                        </p:attrNameLst>
                                      </p:cBhvr>
                                      <p:tavLst>
                                        <p:tav tm="0">
                                          <p:val>
                                            <p:strVal val="#ppt_x-0.25"/>
                                          </p:val>
                                        </p:tav>
                                        <p:tav tm="100000">
                                          <p:val>
                                            <p:strVal val="#ppt_x"/>
                                          </p:val>
                                        </p:tav>
                                      </p:tavLst>
                                    </p:anim>
                                    <p:anim calcmode="lin" valueType="num">
                                      <p:cBhvr>
                                        <p:cTn id="25" dur="83" tmFilter="0.0,0.0; 0.25,0.07; 0.50,0.2; 0.75,0.467; 1.0,1.0">
                                          <p:stCondLst>
                                            <p:cond delay="0"/>
                                          </p:stCondLst>
                                        </p:cTn>
                                        <p:tgtEl>
                                          <p:spTgt spid="2">
                                            <p:txEl>
                                              <p:pRg st="0" end="0"/>
                                            </p:txEl>
                                          </p:spTgt>
                                        </p:tgtEl>
                                        <p:attrNameLst>
                                          <p:attrName>ppt_y</p:attrName>
                                        </p:attrNameLst>
                                      </p:cBhvr>
                                      <p:tavLst>
                                        <p:tav tm="0" fmla="#ppt_y-sin(pi*$)/3">
                                          <p:val>
                                            <p:fltVal val="0.5"/>
                                          </p:val>
                                        </p:tav>
                                        <p:tav tm="100000">
                                          <p:val>
                                            <p:fltVal val="1"/>
                                          </p:val>
                                        </p:tav>
                                      </p:tavLst>
                                    </p:anim>
                                    <p:anim calcmode="lin" valueType="num">
                                      <p:cBhvr>
                                        <p:cTn id="26" dur="83" tmFilter="0, 0; 0.125,0.2665; 0.25,0.4; 0.375,0.465; 0.5,0.5;  0.625,0.535; 0.75,0.6; 0.875,0.7335; 1,1">
                                          <p:stCondLst>
                                            <p:cond delay="83"/>
                                          </p:stCondLst>
                                        </p:cTn>
                                        <p:tgtEl>
                                          <p:spTgt spid="2">
                                            <p:txEl>
                                              <p:pRg st="0" end="0"/>
                                            </p:txEl>
                                          </p:spTgt>
                                        </p:tgtEl>
                                        <p:attrNameLst>
                                          <p:attrName>ppt_y</p:attrName>
                                        </p:attrNameLst>
                                      </p:cBhvr>
                                      <p:tavLst>
                                        <p:tav tm="0" fmla="#ppt_y-sin(pi*$)/9">
                                          <p:val>
                                            <p:fltVal val="0"/>
                                          </p:val>
                                        </p:tav>
                                        <p:tav tm="100000">
                                          <p:val>
                                            <p:fltVal val="1"/>
                                          </p:val>
                                        </p:tav>
                                      </p:tavLst>
                                    </p:anim>
                                    <p:anim calcmode="lin" valueType="num">
                                      <p:cBhvr>
                                        <p:cTn id="27" dur="41" tmFilter="0, 0; 0.125,0.2665; 0.25,0.4; 0.375,0.465; 0.5,0.5;  0.625,0.535; 0.75,0.6; 0.875,0.7335; 1,1">
                                          <p:stCondLst>
                                            <p:cond delay="166"/>
                                          </p:stCondLst>
                                        </p:cTn>
                                        <p:tgtEl>
                                          <p:spTgt spid="2">
                                            <p:txEl>
                                              <p:pRg st="0" end="0"/>
                                            </p:txEl>
                                          </p:spTgt>
                                        </p:tgtEl>
                                        <p:attrNameLst>
                                          <p:attrName>ppt_y</p:attrName>
                                        </p:attrNameLst>
                                      </p:cBhvr>
                                      <p:tavLst>
                                        <p:tav tm="0" fmla="#ppt_y-sin(pi*$)/27">
                                          <p:val>
                                            <p:fltVal val="0"/>
                                          </p:val>
                                        </p:tav>
                                        <p:tav tm="100000">
                                          <p:val>
                                            <p:fltVal val="1"/>
                                          </p:val>
                                        </p:tav>
                                      </p:tavLst>
                                    </p:anim>
                                    <p:anim calcmode="lin" valueType="num">
                                      <p:cBhvr>
                                        <p:cTn id="28" dur="21" tmFilter="0, 0; 0.125,0.2665; 0.25,0.4; 0.375,0.465; 0.5,0.5;  0.625,0.535; 0.75,0.6; 0.875,0.7335; 1,1">
                                          <p:stCondLst>
                                            <p:cond delay="207"/>
                                          </p:stCondLst>
                                        </p:cTn>
                                        <p:tgtEl>
                                          <p:spTgt spid="2">
                                            <p:txEl>
                                              <p:pRg st="0" end="0"/>
                                            </p:txEl>
                                          </p:spTgt>
                                        </p:tgtEl>
                                        <p:attrNameLst>
                                          <p:attrName>ppt_y</p:attrName>
                                        </p:attrNameLst>
                                      </p:cBhvr>
                                      <p:tavLst>
                                        <p:tav tm="0" fmla="#ppt_y-sin(pi*$)/81">
                                          <p:val>
                                            <p:fltVal val="0"/>
                                          </p:val>
                                        </p:tav>
                                        <p:tav tm="100000">
                                          <p:val>
                                            <p:fltVal val="1"/>
                                          </p:val>
                                        </p:tav>
                                      </p:tavLst>
                                    </p:anim>
                                    <p:animScale>
                                      <p:cBhvr>
                                        <p:cTn id="29" dur="3">
                                          <p:stCondLst>
                                            <p:cond delay="81"/>
                                          </p:stCondLst>
                                        </p:cTn>
                                        <p:tgtEl>
                                          <p:spTgt spid="2">
                                            <p:txEl>
                                              <p:pRg st="0" end="0"/>
                                            </p:txEl>
                                          </p:spTgt>
                                        </p:tgtEl>
                                      </p:cBhvr>
                                      <p:to x="100000" y="60000"/>
                                    </p:animScale>
                                    <p:animScale>
                                      <p:cBhvr>
                                        <p:cTn id="30" dur="21" decel="50000">
                                          <p:stCondLst>
                                            <p:cond delay="85"/>
                                          </p:stCondLst>
                                        </p:cTn>
                                        <p:tgtEl>
                                          <p:spTgt spid="2">
                                            <p:txEl>
                                              <p:pRg st="0" end="0"/>
                                            </p:txEl>
                                          </p:spTgt>
                                        </p:tgtEl>
                                      </p:cBhvr>
                                      <p:to x="100000" y="100000"/>
                                    </p:animScale>
                                    <p:animScale>
                                      <p:cBhvr>
                                        <p:cTn id="31" dur="3">
                                          <p:stCondLst>
                                            <p:cond delay="164"/>
                                          </p:stCondLst>
                                        </p:cTn>
                                        <p:tgtEl>
                                          <p:spTgt spid="2">
                                            <p:txEl>
                                              <p:pRg st="0" end="0"/>
                                            </p:txEl>
                                          </p:spTgt>
                                        </p:tgtEl>
                                      </p:cBhvr>
                                      <p:to x="100000" y="80000"/>
                                    </p:animScale>
                                    <p:animScale>
                                      <p:cBhvr>
                                        <p:cTn id="32" dur="21" decel="50000">
                                          <p:stCondLst>
                                            <p:cond delay="167"/>
                                          </p:stCondLst>
                                        </p:cTn>
                                        <p:tgtEl>
                                          <p:spTgt spid="2">
                                            <p:txEl>
                                              <p:pRg st="0" end="0"/>
                                            </p:txEl>
                                          </p:spTgt>
                                        </p:tgtEl>
                                      </p:cBhvr>
                                      <p:to x="100000" y="100000"/>
                                    </p:animScale>
                                    <p:animScale>
                                      <p:cBhvr>
                                        <p:cTn id="33" dur="3">
                                          <p:stCondLst>
                                            <p:cond delay="205"/>
                                          </p:stCondLst>
                                        </p:cTn>
                                        <p:tgtEl>
                                          <p:spTgt spid="2">
                                            <p:txEl>
                                              <p:pRg st="0" end="0"/>
                                            </p:txEl>
                                          </p:spTgt>
                                        </p:tgtEl>
                                      </p:cBhvr>
                                      <p:to x="100000" y="90000"/>
                                    </p:animScale>
                                    <p:animScale>
                                      <p:cBhvr>
                                        <p:cTn id="34" dur="21" decel="50000">
                                          <p:stCondLst>
                                            <p:cond delay="208"/>
                                          </p:stCondLst>
                                        </p:cTn>
                                        <p:tgtEl>
                                          <p:spTgt spid="2">
                                            <p:txEl>
                                              <p:pRg st="0" end="0"/>
                                            </p:txEl>
                                          </p:spTgt>
                                        </p:tgtEl>
                                      </p:cBhvr>
                                      <p:to x="100000" y="100000"/>
                                    </p:animScale>
                                    <p:animScale>
                                      <p:cBhvr>
                                        <p:cTn id="35" dur="3">
                                          <p:stCondLst>
                                            <p:cond delay="226"/>
                                          </p:stCondLst>
                                        </p:cTn>
                                        <p:tgtEl>
                                          <p:spTgt spid="2">
                                            <p:txEl>
                                              <p:pRg st="0" end="0"/>
                                            </p:txEl>
                                          </p:spTgt>
                                        </p:tgtEl>
                                      </p:cBhvr>
                                      <p:to x="100000" y="95000"/>
                                    </p:animScale>
                                    <p:animScale>
                                      <p:cBhvr>
                                        <p:cTn id="36" dur="21" decel="50000">
                                          <p:stCondLst>
                                            <p:cond delay="229"/>
                                          </p:stCondLst>
                                        </p:cTn>
                                        <p:tgtEl>
                                          <p:spTgt spid="2">
                                            <p:txEl>
                                              <p:pRg st="0" end="0"/>
                                            </p:txEl>
                                          </p:spTgt>
                                        </p:tgtEl>
                                      </p:cBhvr>
                                      <p:to x="100000" y="100000"/>
                                    </p:animScale>
                                  </p:childTnLst>
                                </p:cTn>
                              </p:par>
                            </p:childTnLst>
                          </p:cTn>
                        </p:par>
                      </p:childTnLst>
                    </p:cTn>
                  </p:par>
                  <p:par>
                    <p:cTn id="37" fill="hold">
                      <p:stCondLst>
                        <p:cond delay="indefinite"/>
                      </p:stCondLst>
                      <p:childTnLst>
                        <p:par>
                          <p:cTn id="38" fill="hold">
                            <p:stCondLst>
                              <p:cond delay="0"/>
                            </p:stCondLst>
                            <p:childTnLst>
                              <p:par>
                                <p:cTn id="39" presetID="6" presetClass="entr" presetSubtype="32" fill="hold" grpId="0" nodeType="clickEffect">
                                  <p:stCondLst>
                                    <p:cond delay="250"/>
                                  </p:stCondLst>
                                  <p:childTnLst>
                                    <p:set>
                                      <p:cBhvr>
                                        <p:cTn id="40" dur="1" fill="hold">
                                          <p:stCondLst>
                                            <p:cond delay="0"/>
                                          </p:stCondLst>
                                        </p:cTn>
                                        <p:tgtEl>
                                          <p:spTgt spid="3">
                                            <p:bg/>
                                          </p:spTgt>
                                        </p:tgtEl>
                                        <p:attrNameLst>
                                          <p:attrName>style.visibility</p:attrName>
                                        </p:attrNameLst>
                                      </p:cBhvr>
                                      <p:to>
                                        <p:strVal val="visible"/>
                                      </p:to>
                                    </p:set>
                                    <p:animEffect transition="in" filter="circle(out)">
                                      <p:cBhvr>
                                        <p:cTn id="41" dur="500"/>
                                        <p:tgtEl>
                                          <p:spTgt spid="3">
                                            <p:bg/>
                                          </p:spTgt>
                                        </p:tgtEl>
                                      </p:cBhvr>
                                    </p:animEffect>
                                  </p:childTnLst>
                                </p:cTn>
                              </p:par>
                              <p:par>
                                <p:cTn id="42" presetID="6" presetClass="entr" presetSubtype="32" fill="hold" grpId="0" nodeType="withEffect">
                                  <p:stCondLst>
                                    <p:cond delay="250"/>
                                  </p:stCondLst>
                                  <p:childTnLst>
                                    <p:set>
                                      <p:cBhvr>
                                        <p:cTn id="43" dur="1" fill="hold">
                                          <p:stCondLst>
                                            <p:cond delay="0"/>
                                          </p:stCondLst>
                                        </p:cTn>
                                        <p:tgtEl>
                                          <p:spTgt spid="3">
                                            <p:txEl>
                                              <p:pRg st="0" end="0"/>
                                            </p:txEl>
                                          </p:spTgt>
                                        </p:tgtEl>
                                        <p:attrNameLst>
                                          <p:attrName>style.visibility</p:attrName>
                                        </p:attrNameLst>
                                      </p:cBhvr>
                                      <p:to>
                                        <p:strVal val="visible"/>
                                      </p:to>
                                    </p:set>
                                    <p:animEffect transition="in" filter="circle(out)">
                                      <p:cBhvr>
                                        <p:cTn id="44" dur="500"/>
                                        <p:tgtEl>
                                          <p:spTgt spid="3">
                                            <p:txEl>
                                              <p:pRg st="0" end="0"/>
                                            </p:txEl>
                                          </p:spTgt>
                                        </p:tgtEl>
                                      </p:cBhvr>
                                    </p:animEffect>
                                  </p:childTnLst>
                                </p:cTn>
                              </p:par>
                              <p:par>
                                <p:cTn id="45" presetID="6" presetClass="entr" presetSubtype="32" fill="hold" grpId="0" nodeType="withEffect">
                                  <p:stCondLst>
                                    <p:cond delay="250"/>
                                  </p:stCondLst>
                                  <p:childTnLst>
                                    <p:set>
                                      <p:cBhvr>
                                        <p:cTn id="46" dur="1" fill="hold">
                                          <p:stCondLst>
                                            <p:cond delay="0"/>
                                          </p:stCondLst>
                                        </p:cTn>
                                        <p:tgtEl>
                                          <p:spTgt spid="3">
                                            <p:txEl>
                                              <p:pRg st="2" end="2"/>
                                            </p:txEl>
                                          </p:spTgt>
                                        </p:tgtEl>
                                        <p:attrNameLst>
                                          <p:attrName>style.visibility</p:attrName>
                                        </p:attrNameLst>
                                      </p:cBhvr>
                                      <p:to>
                                        <p:strVal val="visible"/>
                                      </p:to>
                                    </p:set>
                                    <p:animEffect transition="in" filter="circle(out)">
                                      <p:cBhvr>
                                        <p:cTn id="47" dur="500"/>
                                        <p:tgtEl>
                                          <p:spTgt spid="3">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32" fill="hold" grpId="0" nodeType="clickEffect">
                                  <p:stCondLst>
                                    <p:cond delay="500"/>
                                  </p:stCondLst>
                                  <p:childTnLst>
                                    <p:set>
                                      <p:cBhvr>
                                        <p:cTn id="51" dur="1" fill="hold">
                                          <p:stCondLst>
                                            <p:cond delay="0"/>
                                          </p:stCondLst>
                                        </p:cTn>
                                        <p:tgtEl>
                                          <p:spTgt spid="4">
                                            <p:bg/>
                                          </p:spTgt>
                                        </p:tgtEl>
                                        <p:attrNameLst>
                                          <p:attrName>style.visibility</p:attrName>
                                        </p:attrNameLst>
                                      </p:cBhvr>
                                      <p:to>
                                        <p:strVal val="visible"/>
                                      </p:to>
                                    </p:set>
                                    <p:animEffect transition="in" filter="circle(out)">
                                      <p:cBhvr>
                                        <p:cTn id="52" dur="750"/>
                                        <p:tgtEl>
                                          <p:spTgt spid="4">
                                            <p:bg/>
                                          </p:spTgt>
                                        </p:tgtEl>
                                      </p:cBhvr>
                                    </p:animEffect>
                                  </p:childTnLst>
                                </p:cTn>
                              </p:par>
                              <p:par>
                                <p:cTn id="53" presetID="6" presetClass="entr" presetSubtype="32" fill="hold" grpId="0" nodeType="withEffect">
                                  <p:stCondLst>
                                    <p:cond delay="500"/>
                                  </p:stCondLst>
                                  <p:childTnLst>
                                    <p:set>
                                      <p:cBhvr>
                                        <p:cTn id="54" dur="1" fill="hold">
                                          <p:stCondLst>
                                            <p:cond delay="0"/>
                                          </p:stCondLst>
                                        </p:cTn>
                                        <p:tgtEl>
                                          <p:spTgt spid="4">
                                            <p:txEl>
                                              <p:pRg st="0" end="0"/>
                                            </p:txEl>
                                          </p:spTgt>
                                        </p:tgtEl>
                                        <p:attrNameLst>
                                          <p:attrName>style.visibility</p:attrName>
                                        </p:attrNameLst>
                                      </p:cBhvr>
                                      <p:to>
                                        <p:strVal val="visible"/>
                                      </p:to>
                                    </p:set>
                                    <p:animEffect transition="in" filter="circle(out)">
                                      <p:cBhvr>
                                        <p:cTn id="55" dur="750"/>
                                        <p:tgtEl>
                                          <p:spTgt spid="4">
                                            <p:txEl>
                                              <p:pRg st="0" end="0"/>
                                            </p:txEl>
                                          </p:spTgt>
                                        </p:tgtEl>
                                      </p:cBhvr>
                                    </p:animEffect>
                                  </p:childTnLst>
                                </p:cTn>
                              </p:par>
                              <p:par>
                                <p:cTn id="56" presetID="6" presetClass="entr" presetSubtype="32" fill="hold" grpId="0" nodeType="withEffect">
                                  <p:stCondLst>
                                    <p:cond delay="500"/>
                                  </p:stCondLst>
                                  <p:childTnLst>
                                    <p:set>
                                      <p:cBhvr>
                                        <p:cTn id="57" dur="1" fill="hold">
                                          <p:stCondLst>
                                            <p:cond delay="0"/>
                                          </p:stCondLst>
                                        </p:cTn>
                                        <p:tgtEl>
                                          <p:spTgt spid="4">
                                            <p:txEl>
                                              <p:pRg st="2" end="2"/>
                                            </p:txEl>
                                          </p:spTgt>
                                        </p:tgtEl>
                                        <p:attrNameLst>
                                          <p:attrName>style.visibility</p:attrName>
                                        </p:attrNameLst>
                                      </p:cBhvr>
                                      <p:to>
                                        <p:strVal val="visible"/>
                                      </p:to>
                                    </p:set>
                                    <p:animEffect transition="in" filter="circle(out)">
                                      <p:cBhvr>
                                        <p:cTn id="58" dur="750"/>
                                        <p:tgtEl>
                                          <p:spTgt spid="4">
                                            <p:txEl>
                                              <p:pRg st="2" end="2"/>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6" presetClass="entr" presetSubtype="32" fill="hold" grpId="0" nodeType="clickEffect">
                                  <p:stCondLst>
                                    <p:cond delay="750"/>
                                  </p:stCondLst>
                                  <p:childTnLst>
                                    <p:set>
                                      <p:cBhvr>
                                        <p:cTn id="62" dur="1" fill="hold">
                                          <p:stCondLst>
                                            <p:cond delay="0"/>
                                          </p:stCondLst>
                                        </p:cTn>
                                        <p:tgtEl>
                                          <p:spTgt spid="5">
                                            <p:bg/>
                                          </p:spTgt>
                                        </p:tgtEl>
                                        <p:attrNameLst>
                                          <p:attrName>style.visibility</p:attrName>
                                        </p:attrNameLst>
                                      </p:cBhvr>
                                      <p:to>
                                        <p:strVal val="visible"/>
                                      </p:to>
                                    </p:set>
                                    <p:animEffect transition="in" filter="circle(out)">
                                      <p:cBhvr>
                                        <p:cTn id="63" dur="1000"/>
                                        <p:tgtEl>
                                          <p:spTgt spid="5">
                                            <p:bg/>
                                          </p:spTgt>
                                        </p:tgtEl>
                                      </p:cBhvr>
                                    </p:animEffect>
                                  </p:childTnLst>
                                </p:cTn>
                              </p:par>
                              <p:par>
                                <p:cTn id="64" presetID="6" presetClass="entr" presetSubtype="32" fill="hold" grpId="0" nodeType="withEffect">
                                  <p:stCondLst>
                                    <p:cond delay="750"/>
                                  </p:stCondLst>
                                  <p:childTnLst>
                                    <p:set>
                                      <p:cBhvr>
                                        <p:cTn id="65" dur="1" fill="hold">
                                          <p:stCondLst>
                                            <p:cond delay="0"/>
                                          </p:stCondLst>
                                        </p:cTn>
                                        <p:tgtEl>
                                          <p:spTgt spid="5">
                                            <p:txEl>
                                              <p:pRg st="0" end="0"/>
                                            </p:txEl>
                                          </p:spTgt>
                                        </p:tgtEl>
                                        <p:attrNameLst>
                                          <p:attrName>style.visibility</p:attrName>
                                        </p:attrNameLst>
                                      </p:cBhvr>
                                      <p:to>
                                        <p:strVal val="visible"/>
                                      </p:to>
                                    </p:set>
                                    <p:animEffect transition="in" filter="circle(out)">
                                      <p:cBhvr>
                                        <p:cTn id="66" dur="1000"/>
                                        <p:tgtEl>
                                          <p:spTgt spid="5">
                                            <p:txEl>
                                              <p:pRg st="0" end="0"/>
                                            </p:txEl>
                                          </p:spTgt>
                                        </p:tgtEl>
                                      </p:cBhvr>
                                    </p:animEffect>
                                  </p:childTnLst>
                                </p:cTn>
                              </p:par>
                              <p:par>
                                <p:cTn id="67" presetID="6" presetClass="entr" presetSubtype="32" fill="hold" grpId="0" nodeType="withEffect">
                                  <p:stCondLst>
                                    <p:cond delay="750"/>
                                  </p:stCondLst>
                                  <p:childTnLst>
                                    <p:set>
                                      <p:cBhvr>
                                        <p:cTn id="68" dur="1" fill="hold">
                                          <p:stCondLst>
                                            <p:cond delay="0"/>
                                          </p:stCondLst>
                                        </p:cTn>
                                        <p:tgtEl>
                                          <p:spTgt spid="5">
                                            <p:txEl>
                                              <p:pRg st="2" end="2"/>
                                            </p:txEl>
                                          </p:spTgt>
                                        </p:tgtEl>
                                        <p:attrNameLst>
                                          <p:attrName>style.visibility</p:attrName>
                                        </p:attrNameLst>
                                      </p:cBhvr>
                                      <p:to>
                                        <p:strVal val="visible"/>
                                      </p:to>
                                    </p:set>
                                    <p:animEffect transition="in" filter="circle(out)">
                                      <p:cBhvr>
                                        <p:cTn id="69" dur="10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animBg="1"/>
      <p:bldP spid="3" grpId="0" build="allAtOnce" animBg="1"/>
      <p:bldP spid="4" grpId="0" build="allAtOnce" animBg="1"/>
      <p:bldP spid="5" grpId="0" build="allAtOnce"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C524EC-2D11-65C0-CFEB-93FCB4575F67}"/>
              </a:ext>
            </a:extLst>
          </p:cNvPr>
          <p:cNvSpPr/>
          <p:nvPr/>
        </p:nvSpPr>
        <p:spPr>
          <a:xfrm>
            <a:off x="0" y="6126480"/>
            <a:ext cx="12192000" cy="731520"/>
          </a:xfrm>
          <a:prstGeom prst="rect">
            <a:avLst/>
          </a:prstGeom>
          <a:gradFill flip="none" rotWithShape="1">
            <a:gsLst>
              <a:gs pos="0">
                <a:schemeClr val="bg1">
                  <a:lumMod val="75000"/>
                  <a:lumOff val="25000"/>
                  <a:shade val="30000"/>
                  <a:satMod val="115000"/>
                </a:schemeClr>
              </a:gs>
              <a:gs pos="50000">
                <a:schemeClr val="bg1">
                  <a:lumMod val="75000"/>
                  <a:lumOff val="25000"/>
                  <a:shade val="67500"/>
                  <a:satMod val="115000"/>
                </a:schemeClr>
              </a:gs>
              <a:gs pos="100000">
                <a:schemeClr val="bg1">
                  <a:lumMod val="75000"/>
                  <a:lumOff val="25000"/>
                  <a:shade val="100000"/>
                  <a:satMod val="115000"/>
                </a:schemeClr>
              </a:gs>
            </a:gsLst>
            <a:lin ang="0" scaled="1"/>
            <a:tileRect/>
          </a:gradFill>
          <a:ln w="38100">
            <a:noFill/>
          </a:ln>
          <a:effectLst>
            <a:innerShdw blurRad="114300">
              <a:prstClr val="black"/>
            </a:innerShdw>
          </a:effectLst>
        </p:spPr>
        <p:style>
          <a:lnRef idx="2">
            <a:schemeClr val="accent1">
              <a:shade val="15000"/>
            </a:schemeClr>
          </a:lnRef>
          <a:fillRef idx="1002">
            <a:schemeClr val="dk1"/>
          </a:fillRef>
          <a:effectRef idx="0">
            <a:schemeClr val="accent1"/>
          </a:effectRef>
          <a:fontRef idx="minor">
            <a:schemeClr val="lt1"/>
          </a:fontRef>
        </p:style>
        <p:txBody>
          <a:bodyPr tIns="317500" rtlCol="0" anchor="ctr"/>
          <a:lstStyle/>
          <a:p>
            <a:r>
              <a:rPr lang="en-US" sz="2000" b="1" dirty="0">
                <a:solidFill>
                  <a:srgbClr val="FFFFFF"/>
                </a:solidFill>
                <a:latin typeface="+mj-lt"/>
              </a:rPr>
              <a:t>  Explore the complete architectural framework on GitHub:  </a:t>
            </a:r>
            <a:r>
              <a:rPr lang="en-US" sz="2000" b="1" dirty="0">
                <a:solidFill>
                  <a:srgbClr val="FFFFFF"/>
                </a:solidFill>
                <a:latin typeface="+mj-lt"/>
                <a:hlinkClick r:id="rId2"/>
              </a:rPr>
              <a:t>MANJEET-DevOps</a:t>
            </a:r>
            <a:r>
              <a:rPr lang="en-US" sz="2000" b="1" dirty="0">
                <a:solidFill>
                  <a:srgbClr val="FFFFFF"/>
                </a:solidFill>
                <a:latin typeface="+mj-lt"/>
              </a:rPr>
              <a:t>/Raw-To-Refined-PowerBi-															  Dashboard/Finance Performance </a:t>
            </a:r>
            <a:r>
              <a:rPr lang="en-US" sz="2000" b="1" dirty="0">
                <a:solidFill>
                  <a:srgbClr val="FFFFFF"/>
                </a:solidFill>
              </a:rPr>
              <a:t>Suite – Power Bi</a:t>
            </a:r>
            <a:endParaRPr lang="en-US" sz="2000" b="1" dirty="0">
              <a:solidFill>
                <a:srgbClr val="FFFFFF"/>
              </a:solidFill>
              <a:latin typeface="+mj-lt"/>
            </a:endParaRPr>
          </a:p>
          <a:p>
            <a:r>
              <a:rPr lang="en-US" sz="2000" b="1" dirty="0">
                <a:solidFill>
                  <a:srgbClr val="FFFFFF"/>
                </a:solidFill>
                <a:latin typeface="+mj-lt"/>
              </a:rPr>
              <a:t>										</a:t>
            </a:r>
          </a:p>
        </p:txBody>
      </p:sp>
      <p:sp>
        <p:nvSpPr>
          <p:cNvPr id="2" name="TextBox 1">
            <a:extLst>
              <a:ext uri="{FF2B5EF4-FFF2-40B4-BE49-F238E27FC236}">
                <a16:creationId xmlns:a16="http://schemas.microsoft.com/office/drawing/2014/main" id="{DD778851-133E-1D3E-874E-80BBBC70B782}"/>
              </a:ext>
            </a:extLst>
          </p:cNvPr>
          <p:cNvSpPr txBox="1"/>
          <p:nvPr/>
        </p:nvSpPr>
        <p:spPr>
          <a:xfrm>
            <a:off x="1480322" y="1937286"/>
            <a:ext cx="10441178" cy="1323439"/>
          </a:xfrm>
          <a:prstGeom prst="rect">
            <a:avLst/>
          </a:prstGeom>
          <a:effectLst>
            <a:innerShdw blurRad="63500" dist="50800" dir="8100000">
              <a:prstClr val="black">
                <a:alpha val="50000"/>
              </a:prstClr>
            </a:innerShdw>
          </a:effectLst>
        </p:spPr>
        <p:style>
          <a:lnRef idx="1">
            <a:schemeClr val="dk1"/>
          </a:lnRef>
          <a:fillRef idx="2">
            <a:schemeClr val="dk1"/>
          </a:fillRef>
          <a:effectRef idx="1">
            <a:schemeClr val="dk1"/>
          </a:effectRef>
          <a:fontRef idx="minor">
            <a:schemeClr val="dk1"/>
          </a:fontRef>
        </p:style>
        <p:txBody>
          <a:bodyPr vert="horz" wrap="square" rtlCol="0" anchor="ctr">
            <a:spAutoFit/>
          </a:bodyPr>
          <a:lstStyle/>
          <a:p>
            <a:pPr indent="-182880"/>
            <a:r>
              <a:rPr lang="en-US" sz="4000" b="1" dirty="0">
                <a:solidFill>
                  <a:schemeClr val="tx1"/>
                </a:solidFill>
                <a:latin typeface="Arial Rounded MT Bold" panose="020F0704030504030204" pitchFamily="34" charset="0"/>
              </a:rPr>
              <a:t>Connecting Data Engineering to Strategic Execution</a:t>
            </a:r>
          </a:p>
        </p:txBody>
      </p:sp>
      <p:sp>
        <p:nvSpPr>
          <p:cNvPr id="3" name="TextBox 2">
            <a:extLst>
              <a:ext uri="{FF2B5EF4-FFF2-40B4-BE49-F238E27FC236}">
                <a16:creationId xmlns:a16="http://schemas.microsoft.com/office/drawing/2014/main" id="{064E9906-913B-547B-D0D0-AA210594F42A}"/>
              </a:ext>
            </a:extLst>
          </p:cNvPr>
          <p:cNvSpPr txBox="1"/>
          <p:nvPr/>
        </p:nvSpPr>
        <p:spPr>
          <a:xfrm>
            <a:off x="1479687" y="3447568"/>
            <a:ext cx="10442448" cy="923330"/>
          </a:xfrm>
          <a:prstGeom prst="rect">
            <a:avLst/>
          </a:prstGeom>
          <a:noFill/>
        </p:spPr>
        <p:txBody>
          <a:bodyPr vert="horz" wrap="square" rtlCol="0" anchor="ctr">
            <a:spAutoFit/>
          </a:bodyPr>
          <a:lstStyle/>
          <a:p>
            <a:r>
              <a:rPr lang="en-US" dirty="0">
                <a:ln w="0"/>
                <a:latin typeface="Arial Rounded MT Bold" panose="020F0704030504030204" pitchFamily="34" charset="0"/>
              </a:rPr>
              <a:t>This solution successfully bridges the operational visibility gap. By replacing messy manual processes with clean architectural models, the dashboard enables fast, confident, and insight-driven business planning.</a:t>
            </a:r>
          </a:p>
        </p:txBody>
      </p:sp>
    </p:spTree>
    <p:extLst>
      <p:ext uri="{BB962C8B-B14F-4D97-AF65-F5344CB8AC3E}">
        <p14:creationId xmlns:p14="http://schemas.microsoft.com/office/powerpoint/2010/main" val="28584644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2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25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P spid="3"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642</TotalTime>
  <Words>585</Words>
  <Application>Microsoft Office PowerPoint</Application>
  <PresentationFormat>Widescreen</PresentationFormat>
  <Paragraphs>69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Arial Rounded MT Bold</vt:lpstr>
      <vt:lpstr>Corbel</vt:lpstr>
      <vt:lpstr>Courier New</vt:lpstr>
      <vt:lpstr>Parallax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Simran Kaur</dc:creator>
  <cp:lastModifiedBy>Simran Kaur</cp:lastModifiedBy>
  <cp:revision>32</cp:revision>
  <dcterms:created xsi:type="dcterms:W3CDTF">2026-07-16T07:16:14Z</dcterms:created>
  <dcterms:modified xsi:type="dcterms:W3CDTF">2026-07-20T08:07:24Z</dcterms:modified>
</cp:coreProperties>
</file>